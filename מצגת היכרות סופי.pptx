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2" r:id="rId2"/>
  </p:sldMasterIdLst>
  <p:notesMasterIdLst>
    <p:notesMasterId r:id="rId21"/>
  </p:notesMasterIdLst>
  <p:sldIdLst>
    <p:sldId id="256" r:id="rId3"/>
    <p:sldId id="26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73" r:id="rId14"/>
    <p:sldId id="274" r:id="rId15"/>
    <p:sldId id="275" r:id="rId16"/>
    <p:sldId id="276" r:id="rId17"/>
    <p:sldId id="277" r:id="rId18"/>
    <p:sldId id="278" r:id="rId19"/>
    <p:sldId id="279" r:id="rId20"/>
  </p:sldIdLst>
  <p:sldSz cx="9144000" cy="5143500" type="screen16x9"/>
  <p:notesSz cx="5143500" cy="9144000"/>
  <p:embeddedFontLst>
    <p:embeddedFont>
      <p:font typeface="Aharoni" panose="02010803020104030203" pitchFamily="2" charset="-79"/>
      <p:bold r:id="rId22"/>
    </p:embeddedFont>
    <p:embeddedFont>
      <p:font typeface="David" panose="020E0502060401010101" pitchFamily="34" charset="-79"/>
      <p:regular r:id="rId23"/>
      <p:bold r:id="rId24"/>
    </p:embeddedFont>
    <p:embeddedFont>
      <p:font typeface="Nunito SemiBold" pitchFamily="2" charset="0"/>
      <p:regular r:id="rId25"/>
      <p:bold r:id="rId26"/>
      <p:boldItalic r:id="rId27"/>
    </p:embeddedFont>
    <p:embeddedFont>
      <p:font typeface="PT Sans" panose="020B0503020203020204" pitchFamily="34" charset="0"/>
      <p:regular r:id="rId28"/>
      <p:bold r:id="rId29"/>
      <p:italic r:id="rId30"/>
      <p:boldItalic r:id="rId31"/>
    </p:embeddedFont>
    <p:embeddedFont>
      <p:font typeface="PT Sans Bold" panose="020B0703020203020204" charset="0"/>
      <p:regular r:id="rId32"/>
    </p:embeddedFont>
    <p:embeddedFont>
      <p:font typeface="Twemoji Mozilla" panose="02000509000000000000" pitchFamily="49" charset="0"/>
      <p:regular r:id="rId3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6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643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661A6-6418-7FC6-3859-27D2C483B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946BC6-C577-A75C-BA52-40A7615D4B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56D777-32F9-0B81-2255-219EF1FE4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3BFC9-619C-D694-86B3-F25BBDC55C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71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עמוד תווך 4: ניהול הבית והמשפחה
• זהו מרכז בקרה שקט - מקום אחד שבו כל המידע הלוגיסטי, הבירוקרטי והחיוני של המשפחה מרוכז
• מעקב רכב ואחזקה - התרעות אוטומטיות על טסט שנתי (30, 14, 3 ימים מראש), ניהול ביטוח חובה ומקיף, תיזמון טיפולים במוסך. זה קריטי ובשלב MVP.
• בירוקרטיה, ביטוחים ודיור - מקום אחד לכל הפוליסות (ביטוח מבנה, תכולה, בריאות), מעקב תאריכי תפוגה וקפיצות מחירים. גבוה בעדיפות, MVP.
• מרכז מסמכים מאובטח - תיקייה דיגיטלית מסווגת לתעודות זהות, רישיונות, פוליסות - גישה מהירה בשעת חירום. גבוה בעדיפות, MVP.
• לוגיסטיקה ורשימת קניות - רשימה משותפת לקניות ומוצרי צריכה בסיסיים, סנכרון בזמן אמת בין בני המשפחה. עדיפות בינונית, שלב ב'.
• ניהול ילדים ודוקומנטציה - חוגים, טפסים רפואיים, רישומי חיסונים ותכתובות עם בית הספר — הכל במקום אחד. גבוה בעדיפות, MVP.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23D6E7C1-9057-9528-0BA3-54EB3E0D81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5382" t="16603" r="35150" b="32828"/>
          <a:stretch>
            <a:fillRect/>
          </a:stretch>
        </p:blipFill>
        <p:spPr>
          <a:xfrm>
            <a:off x="62347" y="71049"/>
            <a:ext cx="702192" cy="657279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F619C3C-B839-C684-6648-04965DD60C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D6DA6DAB-297F-F7A2-E1B5-30C4B16F3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67A161E-7E10-F777-C60C-EEDD14556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5920-AECD-46B4-8855-E21FC657E5EB}" type="datetimeFigureOut">
              <a:rPr lang="he-IL" smtClean="0"/>
              <a:t>כ"ט/תמוז/תשפ"ו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D243AF8-2E6F-2F47-E779-DD64E575D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F88604B-2CB2-B629-11B5-3D859DEF5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2EE30-6AC8-42C3-A24C-4CE56A100A5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19055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F619C3C-B839-C684-6648-04965DD60C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D6DA6DAB-297F-F7A2-E1B5-30C4B16F3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67A161E-7E10-F777-C60C-EEDD14556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5920-AECD-46B4-8855-E21FC657E5EB}" type="datetimeFigureOut">
              <a:rPr lang="he-IL" smtClean="0"/>
              <a:t>כ"ט/תמוז/תשפ"ו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D243AF8-2E6F-2F47-E779-DD64E575D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F88604B-2CB2-B629-11B5-3D859DEF5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2EE30-6AC8-42C3-A24C-4CE56A100A5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10810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483B1A4-E66C-1FF8-494D-F4306285F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639ABBD-17E5-D4C3-7BD3-47A132E3C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30A0C28-62D6-8110-6CC7-462D58760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5920-AECD-46B4-8855-E21FC657E5EB}" type="datetimeFigureOut">
              <a:rPr lang="he-IL" smtClean="0"/>
              <a:t>כ"ט/תמוז/תשפ"ו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CFE649D-C8E5-1C24-CE5A-FD1D80B74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83F96E7-0E4C-666E-926E-E91D2FF2F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2EE30-6AC8-42C3-A24C-4CE56A100A5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43007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BF954D6-0497-08F8-6F03-E00C1E1A9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F7F817D-0B41-ED52-1340-215CC8B87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F6BBB47-25CD-0E0D-2D05-D46EAC5EC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5920-AECD-46B4-8855-E21FC657E5EB}" type="datetimeFigureOut">
              <a:rPr lang="he-IL" smtClean="0"/>
              <a:t>כ"ט/תמוז/תשפ"ו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ED3B7DE-C499-128B-F3A2-0E1410C23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102AECB-18FC-711B-993E-F0E2C70C9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2EE30-6AC8-42C3-A24C-4CE56A100A5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39685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372A8B6-8FE2-1B2F-D17C-FEA5E9D43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9ED0714-93B8-845D-22F4-1D735A4987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67C581A5-4184-AA71-1E07-C5F15CBE8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79F314E-22D2-F39A-1477-DFB6D5173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5920-AECD-46B4-8855-E21FC657E5EB}" type="datetimeFigureOut">
              <a:rPr lang="he-IL" smtClean="0"/>
              <a:t>כ"ט/תמוז/תשפ"ו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EB6A54D-5956-BC06-E984-69E033275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CBDA8E8-3C9B-C363-A495-F6121158E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2EE30-6AC8-42C3-A24C-4CE56A100A5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51326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E47351D-3916-BB6C-F3D2-84E0FAFF5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0BBA6C3-FB24-E3BF-4909-AB4A5E475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3BADA099-6E8D-828C-A897-8A1CC93BC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1A2326DA-1963-D34B-0F77-ADEE3BCEBF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16AD749C-49C1-3AE2-0B5E-715089493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A4A960C8-DA37-1F88-207E-C65065826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5920-AECD-46B4-8855-E21FC657E5EB}" type="datetimeFigureOut">
              <a:rPr lang="he-IL" smtClean="0"/>
              <a:t>כ"ט/תמוז/תשפ"ו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D18FA071-07DE-406A-1C2A-C06CAC1F6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FB9780B0-7098-A2AC-0698-A97217511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2EE30-6AC8-42C3-A24C-4CE56A100A5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01427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DAD325A-ACAE-EBDF-5ECE-558EF3BAC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0816CE7E-ED9D-45E4-BF15-D693FA473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5920-AECD-46B4-8855-E21FC657E5EB}" type="datetimeFigureOut">
              <a:rPr lang="he-IL" smtClean="0"/>
              <a:t>כ"ט/תמוז/תשפ"ו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0767E967-D965-72EE-89E1-303DC1EB5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7102B15A-C4AC-7234-E7EE-02BB1B2A4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2EE30-6AC8-42C3-A24C-4CE56A100A5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7325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93F6E58C-F616-B4DC-E78F-2C12CF9DE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5920-AECD-46B4-8855-E21FC657E5EB}" type="datetimeFigureOut">
              <a:rPr lang="he-IL" smtClean="0"/>
              <a:t>כ"ט/תמוז/תשפ"ו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F33CAF66-A7B4-AF64-F9BE-38A88924F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8B47C7E-6632-F130-8704-4FB64AB55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2EE30-6AC8-42C3-A24C-4CE56A100A5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9805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A8C42B3-1B0A-9C73-95BE-9663150BE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6743A03-4FFE-8E47-5AC0-0C58F793A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460B19D-DAA6-903C-1176-A9B070900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22B1765-AA2B-21DC-5B1C-A3EFEBF2C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5920-AECD-46B4-8855-E21FC657E5EB}" type="datetimeFigureOut">
              <a:rPr lang="he-IL" smtClean="0"/>
              <a:t>כ"ט/תמוז/תשפ"ו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3902049-E7BF-321A-9D78-AAD1D8A31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EC95023-83D9-DE60-11E4-FFDD55396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2EE30-6AC8-42C3-A24C-4CE56A100A5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78852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0776A53-FC3D-1676-BAE0-95BE9124A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4D67CC9-90A0-5319-7BDC-7A5A7B09A8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30FE71C5-A2E6-BC36-9658-537B4ABFC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E94B616-0D56-10C6-9496-DD5D553A0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5920-AECD-46B4-8855-E21FC657E5EB}" type="datetimeFigureOut">
              <a:rPr lang="he-IL" smtClean="0"/>
              <a:t>כ"ט/תמוז/תשפ"ו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FD545EE-B59E-7E94-CC47-441072885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3B23463-8CB2-1C45-A2B6-34EA826CA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2EE30-6AC8-42C3-A24C-4CE56A100A5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16194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5296CA2-B888-5729-6F35-DCE5EF2DE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21CDA06-5CA4-6C69-1301-8615045AB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5ED6021-8D8F-F70A-427F-A3823BC6E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5920-AECD-46B4-8855-E21FC657E5EB}" type="datetimeFigureOut">
              <a:rPr lang="he-IL" smtClean="0"/>
              <a:t>כ"ט/תמוז/תשפ"ו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0C33A5A-8496-6B97-D7CD-860B18C8C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D9F9F2C-E939-01FB-A104-99F9539B3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2EE30-6AC8-42C3-A24C-4CE56A100A5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20020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003FE639-3619-3396-79D1-977E1249AC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B690F02-2FF7-E008-5EEF-DC7C76F6EB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58E8C41-90A5-0770-540C-258FBB242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5920-AECD-46B4-8855-E21FC657E5EB}" type="datetimeFigureOut">
              <a:rPr lang="he-IL" smtClean="0"/>
              <a:t>כ"ט/תמוז/תשפ"ו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12EB329-6C49-3A96-5E01-636FA55BE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18C19C5-5138-DA9A-2FC9-887B2B4F5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2EE30-6AC8-42C3-A24C-4CE56A100A5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43124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FC8D1FA2-3564-C5A2-D0D8-67C6FA3ECD7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35382" t="16603" r="35150" b="32828"/>
          <a:stretch>
            <a:fillRect/>
          </a:stretch>
        </p:blipFill>
        <p:spPr>
          <a:xfrm>
            <a:off x="62347" y="71049"/>
            <a:ext cx="702192" cy="657279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2F4D1E6F-20D3-B57F-D3E2-96D8601F5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CFBD495-AD70-62FA-BC02-F3F997171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A358617-1B3C-15D8-88C9-E8A4D3855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35920-AECD-46B4-8855-E21FC657E5EB}" type="datetimeFigureOut">
              <a:rPr lang="he-IL" smtClean="0"/>
              <a:t>כ"ט/תמוז/תשפ"ו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80C240C-101A-0A11-EBEA-7A1B502309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4536EB0-3457-8685-FB79-DE58F407AB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A2EE30-6AC8-42C3-A24C-4CE56A100A5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3665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r" defTabSz="685800" rtl="1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r" defTabSz="685800" rtl="1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Relationship Id="rId9" Type="http://schemas.openxmlformats.org/officeDocument/2006/relationships/image" Target="../media/image2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תמונה 10">
            <a:extLst>
              <a:ext uri="{FF2B5EF4-FFF2-40B4-BE49-F238E27FC236}">
                <a16:creationId xmlns:a16="http://schemas.microsoft.com/office/drawing/2014/main" id="{B50DDEC0-4CDC-7D51-B4D1-624024868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2875" y="0"/>
            <a:ext cx="9429750" cy="5143500"/>
          </a:xfrm>
          <a:prstGeom prst="rect">
            <a:avLst/>
          </a:prstGeom>
        </p:spPr>
      </p:pic>
      <p:sp>
        <p:nvSpPr>
          <p:cNvPr id="12" name="מלבן 11">
            <a:extLst>
              <a:ext uri="{FF2B5EF4-FFF2-40B4-BE49-F238E27FC236}">
                <a16:creationId xmlns:a16="http://schemas.microsoft.com/office/drawing/2014/main" id="{21967498-4CB7-11BB-FB20-CB8AA82B2EF2}"/>
              </a:ext>
            </a:extLst>
          </p:cNvPr>
          <p:cNvSpPr/>
          <p:nvPr/>
        </p:nvSpPr>
        <p:spPr>
          <a:xfrm>
            <a:off x="1534884" y="-248194"/>
            <a:ext cx="6237515" cy="1508760"/>
          </a:xfrm>
          <a:prstGeom prst="rect">
            <a:avLst/>
          </a:prstGeom>
          <a:noFill/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altLang="en-US" sz="3200" dirty="0">
                <a:solidFill>
                  <a:schemeClr val="bg1">
                    <a:lumMod val="75000"/>
                  </a:schemeClr>
                </a:solidFill>
                <a:latin typeface="David" panose="020E0502060401010101" pitchFamily="34" charset="-79"/>
                <a:ea typeface="Nunito SemiBold" pitchFamily="34" charset="-122"/>
                <a:cs typeface="David" panose="020E0502060401010101" pitchFamily="34" charset="-79"/>
              </a:rPr>
              <a:t> </a:t>
            </a:r>
            <a:r>
              <a:rPr lang="he-IL" altLang="en-US" sz="3200" dirty="0">
                <a:ln w="0"/>
                <a:solidFill>
                  <a:schemeClr val="bg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David" panose="020E0502060401010101" pitchFamily="34" charset="-79"/>
                <a:ea typeface="Nunito SemiBold" pitchFamily="34" charset="-122"/>
                <a:cs typeface="David" panose="020E0502060401010101" pitchFamily="34" charset="-79"/>
              </a:rPr>
              <a:t>מערכת ההפעלה האישית לחיים</a:t>
            </a:r>
            <a:endParaRPr lang="he-IL" sz="3200" dirty="0">
              <a:solidFill>
                <a:schemeClr val="bg1">
                  <a:lumMod val="75000"/>
                </a:schemeClr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2B0DF-38C1-0361-414A-62C6627C0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4FFBBD8-CB14-7B7F-C1FB-E6EF306DD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C0099CD-441F-1C51-F859-BF9631E02F50}"/>
              </a:ext>
            </a:extLst>
          </p:cNvPr>
          <p:cNvSpPr/>
          <p:nvPr/>
        </p:nvSpPr>
        <p:spPr>
          <a:xfrm>
            <a:off x="169717" y="950863"/>
            <a:ext cx="5375564" cy="76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he-IL" altLang="en-US" sz="24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DAOS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he-IL" altLang="en-US" sz="24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 מערכת ההפעלה האישית לחיים  </a:t>
            </a:r>
            <a:endParaRPr lang="he-IL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0B19F5F-7FF3-601C-0BD7-0AEB5D7F970E}"/>
              </a:ext>
            </a:extLst>
          </p:cNvPr>
          <p:cNvSpPr/>
          <p:nvPr/>
        </p:nvSpPr>
        <p:spPr>
          <a:xfrm>
            <a:off x="523577" y="2203847"/>
            <a:ext cx="4667845" cy="531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04000"/>
              </a:lnSpc>
              <a:buNone/>
            </a:pPr>
            <a:r>
              <a:rPr lang="he-IL" altLang="en-US" sz="33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הפשטות שבחיים</a:t>
            </a:r>
            <a:endParaRPr lang="he-IL" sz="3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D63EC5C-58EB-CC39-9DB7-AEDB94AA11B8}"/>
              </a:ext>
            </a:extLst>
          </p:cNvPr>
          <p:cNvSpPr/>
          <p:nvPr/>
        </p:nvSpPr>
        <p:spPr>
          <a:xfrm>
            <a:off x="523577" y="2931468"/>
            <a:ext cx="4667845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rtl="1">
              <a:lnSpc>
                <a:spcPct val="133000"/>
              </a:lnSpc>
              <a:buNone/>
            </a:pPr>
            <a:r>
              <a:rPr lang="he-IL" alt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מסמך אפיון מקיף ומפת דרכים לפיתוח </a:t>
            </a:r>
          </a:p>
          <a:p>
            <a:pPr marL="0" indent="0" algn="ctr" rtl="1">
              <a:lnSpc>
                <a:spcPct val="133000"/>
              </a:lnSpc>
              <a:buNone/>
            </a:pPr>
            <a:r>
              <a:rPr lang="he-IL" alt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 DAOS היא מערכת הפעלה אישית לחיים שמטרתה להעביר את המשתמש מניהול חיים פסיבי ומתיש לניהול פרואקטיבי, חכם, אוטומטי ומסונכרן.</a:t>
            </a:r>
            <a:endParaRPr lang="he-IL" sz="1000" dirty="0"/>
          </a:p>
        </p:txBody>
      </p:sp>
    </p:spTree>
    <p:extLst>
      <p:ext uri="{BB962C8B-B14F-4D97-AF65-F5344CB8AC3E}">
        <p14:creationId xmlns:p14="http://schemas.microsoft.com/office/powerpoint/2010/main" val="4110041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380033"/>
            <a:ext cx="4667845" cy="27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04000"/>
              </a:lnSpc>
              <a:buNone/>
            </a:pPr>
            <a:r>
              <a:rPr lang="he-IL" altLang="en-US" sz="17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החזון: מניהול פסיבי לניהול פרואקטיבי</a:t>
            </a:r>
            <a:endParaRPr lang="he-IL" sz="1700" dirty="0"/>
          </a:p>
        </p:txBody>
      </p:sp>
      <p:sp>
        <p:nvSpPr>
          <p:cNvPr id="4" name="Text 1"/>
          <p:cNvSpPr/>
          <p:nvPr/>
        </p:nvSpPr>
        <p:spPr>
          <a:xfrm>
            <a:off x="523577" y="747713"/>
            <a:ext cx="4667845" cy="376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14000"/>
              </a:lnSpc>
              <a:buNone/>
            </a:pPr>
            <a:r>
              <a:rPr lang="he-IL" altLang="en-US" sz="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DAOS מרכזת את כלל תחומי החיים של דניאל תחת קורת גג אחת ומספקת </a:t>
            </a:r>
            <a:r>
              <a:rPr lang="he-IL" altLang="en-US" sz="800" b="1" dirty="0">
                <a:solidFill>
                  <a:srgbClr val="2D4DF2"/>
                </a:solidFill>
                <a:latin typeface="PT Sans Bold" pitchFamily="34" charset="0"/>
                <a:ea typeface="PT Sans Bold" pitchFamily="34" charset="-122"/>
              </a:rPr>
              <a:t>שקט נפשי וסדר אולטימטיבי</a:t>
            </a:r>
            <a:r>
              <a:rPr lang="he-IL" altLang="en-US" sz="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. המערכת מושתתת על ארבעה עמודי תווך מרכזיים, שכל אחד מהם פותר אתגר ספציפי בניהול חיים יומיומי — ממשימות וסדר יום, דרך פיננסים אישיים ועסקיים, ועד לוגיסטיקה משפחתית ובירוקרטיה.</a:t>
            </a:r>
            <a:endParaRPr lang="he-IL" sz="800" dirty="0"/>
          </a:p>
        </p:txBody>
      </p:sp>
      <p:sp>
        <p:nvSpPr>
          <p:cNvPr id="5" name="Shape 2"/>
          <p:cNvSpPr/>
          <p:nvPr/>
        </p:nvSpPr>
        <p:spPr>
          <a:xfrm>
            <a:off x="523577" y="1196653"/>
            <a:ext cx="4667845" cy="843186"/>
          </a:xfrm>
          <a:prstGeom prst="roundRect">
            <a:avLst>
              <a:gd name="adj" fmla="val 16375"/>
            </a:avLst>
          </a:prstGeom>
          <a:solidFill>
            <a:srgbClr val="F3F3FF"/>
          </a:solidFill>
          <a:ln w="9525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3"/>
          <p:cNvSpPr/>
          <p:nvPr/>
        </p:nvSpPr>
        <p:spPr>
          <a:xfrm>
            <a:off x="4813846" y="1298153"/>
            <a:ext cx="276076" cy="276076"/>
          </a:xfrm>
          <a:prstGeom prst="ellipse">
            <a:avLst/>
          </a:prstGeom>
          <a:solidFill>
            <a:srgbClr val="2D4DF2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9822" y="1374056"/>
            <a:ext cx="124197" cy="1241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5078" y="1638895"/>
            <a:ext cx="4464844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90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משימות וסדר יום</a:t>
            </a:r>
            <a:endParaRPr lang="he-IL" sz="900" b="1" dirty="0"/>
          </a:p>
        </p:txBody>
      </p:sp>
      <p:sp>
        <p:nvSpPr>
          <p:cNvPr id="9" name="Text 5"/>
          <p:cNvSpPr/>
          <p:nvPr/>
        </p:nvSpPr>
        <p:spPr>
          <a:xfrm>
            <a:off x="625078" y="1812950"/>
            <a:ext cx="4464844" cy="12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14000"/>
              </a:lnSpc>
              <a:buNone/>
            </a:pPr>
            <a:r>
              <a:rPr lang="he-IL" altLang="en-US" sz="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ניהול דינמי על בסיס זמינות, תעדוף חכם ומדד אנרגיה חדשני שמתאים את המטלות למצב הרוח והעומס.</a:t>
            </a:r>
            <a:endParaRPr lang="he-IL" sz="800" dirty="0"/>
          </a:p>
        </p:txBody>
      </p:sp>
      <p:sp>
        <p:nvSpPr>
          <p:cNvPr id="10" name="Shape 6"/>
          <p:cNvSpPr/>
          <p:nvPr/>
        </p:nvSpPr>
        <p:spPr>
          <a:xfrm>
            <a:off x="523577" y="2104504"/>
            <a:ext cx="4667845" cy="843186"/>
          </a:xfrm>
          <a:prstGeom prst="roundRect">
            <a:avLst>
              <a:gd name="adj" fmla="val 16375"/>
            </a:avLst>
          </a:prstGeom>
          <a:solidFill>
            <a:srgbClr val="F3F3FF"/>
          </a:solidFill>
          <a:ln w="9525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7"/>
          <p:cNvSpPr/>
          <p:nvPr/>
        </p:nvSpPr>
        <p:spPr>
          <a:xfrm>
            <a:off x="4813846" y="2206005"/>
            <a:ext cx="276076" cy="276076"/>
          </a:xfrm>
          <a:prstGeom prst="ellipse">
            <a:avLst/>
          </a:prstGeom>
          <a:solidFill>
            <a:srgbClr val="018CE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89822" y="2281907"/>
            <a:ext cx="124197" cy="12419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5078" y="2546747"/>
            <a:ext cx="4464844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90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פיננסים ותקציב</a:t>
            </a:r>
            <a:endParaRPr lang="he-IL" sz="900" b="1" dirty="0"/>
          </a:p>
        </p:txBody>
      </p:sp>
      <p:sp>
        <p:nvSpPr>
          <p:cNvPr id="14" name="Text 9"/>
          <p:cNvSpPr/>
          <p:nvPr/>
        </p:nvSpPr>
        <p:spPr>
          <a:xfrm>
            <a:off x="625078" y="2720801"/>
            <a:ext cx="4464844" cy="12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14000"/>
              </a:lnSpc>
              <a:buNone/>
            </a:pPr>
            <a:r>
              <a:rPr lang="he-IL" altLang="en-US" sz="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שליטה מוחלטת בכסף עם הפרדה מלאה ומובנית בין הוצאות והכנסות הבית לבין הפעילות העסקית.</a:t>
            </a:r>
            <a:endParaRPr lang="he-IL" sz="800" dirty="0"/>
          </a:p>
        </p:txBody>
      </p:sp>
      <p:sp>
        <p:nvSpPr>
          <p:cNvPr id="15" name="Shape 10"/>
          <p:cNvSpPr/>
          <p:nvPr/>
        </p:nvSpPr>
        <p:spPr>
          <a:xfrm>
            <a:off x="523577" y="3033005"/>
            <a:ext cx="4667845" cy="843186"/>
          </a:xfrm>
          <a:prstGeom prst="roundRect">
            <a:avLst>
              <a:gd name="adj" fmla="val 16375"/>
            </a:avLst>
          </a:prstGeom>
          <a:solidFill>
            <a:srgbClr val="F3F3FF"/>
          </a:solidFill>
          <a:ln w="9525">
            <a:solidFill>
              <a:srgbClr val="DA33B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1"/>
          <p:cNvSpPr/>
          <p:nvPr/>
        </p:nvSpPr>
        <p:spPr>
          <a:xfrm>
            <a:off x="4813846" y="3113856"/>
            <a:ext cx="276076" cy="276076"/>
          </a:xfrm>
          <a:prstGeom prst="ellipse">
            <a:avLst/>
          </a:prstGeom>
          <a:solidFill>
            <a:srgbClr val="DA33BF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89822" y="3189759"/>
            <a:ext cx="124197" cy="12419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5078" y="3454598"/>
            <a:ext cx="4464844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90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מנוע AI ועוזר קולי</a:t>
            </a:r>
            <a:endParaRPr lang="he-IL" sz="900" b="1" dirty="0"/>
          </a:p>
        </p:txBody>
      </p:sp>
      <p:sp>
        <p:nvSpPr>
          <p:cNvPr id="19" name="Text 13"/>
          <p:cNvSpPr/>
          <p:nvPr/>
        </p:nvSpPr>
        <p:spPr>
          <a:xfrm>
            <a:off x="625078" y="3628653"/>
            <a:ext cx="4464844" cy="12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14000"/>
              </a:lnSpc>
              <a:buNone/>
            </a:pPr>
            <a:r>
              <a:rPr lang="he-IL" altLang="en-US" sz="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הודעות קוליות בוואטסאפ שמתורגמות אוטומטית למשימות, סריקת מסמכים (OCR) ותובנות חכמות.</a:t>
            </a:r>
            <a:endParaRPr lang="he-IL" sz="800" dirty="0"/>
          </a:p>
        </p:txBody>
      </p:sp>
      <p:sp>
        <p:nvSpPr>
          <p:cNvPr id="20" name="Shape 14"/>
          <p:cNvSpPr/>
          <p:nvPr/>
        </p:nvSpPr>
        <p:spPr>
          <a:xfrm>
            <a:off x="523577" y="3920207"/>
            <a:ext cx="4667845" cy="843186"/>
          </a:xfrm>
          <a:prstGeom prst="roundRect">
            <a:avLst>
              <a:gd name="adj" fmla="val 16375"/>
            </a:avLst>
          </a:prstGeom>
          <a:solidFill>
            <a:srgbClr val="F3F3FF"/>
          </a:solidFill>
          <a:ln w="9525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5"/>
          <p:cNvSpPr/>
          <p:nvPr/>
        </p:nvSpPr>
        <p:spPr>
          <a:xfrm>
            <a:off x="4813846" y="4021708"/>
            <a:ext cx="276076" cy="276076"/>
          </a:xfrm>
          <a:prstGeom prst="ellipse">
            <a:avLst/>
          </a:prstGeom>
          <a:solidFill>
            <a:srgbClr val="2D4DF2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89822" y="4097610"/>
            <a:ext cx="124197" cy="12419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25078" y="4362450"/>
            <a:ext cx="4464844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90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ניהול הבית והמשפחה</a:t>
            </a:r>
            <a:endParaRPr lang="he-IL" sz="900" b="1" dirty="0"/>
          </a:p>
        </p:txBody>
      </p:sp>
      <p:sp>
        <p:nvSpPr>
          <p:cNvPr id="24" name="Text 17"/>
          <p:cNvSpPr/>
          <p:nvPr/>
        </p:nvSpPr>
        <p:spPr>
          <a:xfrm>
            <a:off x="625078" y="4536504"/>
            <a:ext cx="4464844" cy="12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14000"/>
              </a:lnSpc>
              <a:buNone/>
            </a:pPr>
            <a:r>
              <a:rPr lang="he-IL" altLang="en-US" sz="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מרכז בקרה ללוגיסטיקה המשפחתית: ביטוחים, ילדים, רכב, טסט, טיפולים וארכיון מסמכים מאובטח.</a:t>
            </a:r>
            <a:endParaRPr lang="he-IL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0960" y="185776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24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עמוד תווך 1: משימות וסדר יום דינמי</a:t>
            </a:r>
            <a:endParaRPr lang="he-IL" sz="2400" dirty="0"/>
          </a:p>
        </p:txBody>
      </p:sp>
      <p:sp>
        <p:nvSpPr>
          <p:cNvPr id="3" name="Text 1"/>
          <p:cNvSpPr/>
          <p:nvPr/>
        </p:nvSpPr>
        <p:spPr>
          <a:xfrm>
            <a:off x="810960" y="1084037"/>
            <a:ext cx="8096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תחום ניהול המשימות מאפשר </a:t>
            </a:r>
            <a:r>
              <a:rPr lang="he-IL" altLang="en-US" sz="1100" b="1" dirty="0">
                <a:solidFill>
                  <a:srgbClr val="2D4DF2"/>
                </a:solidFill>
                <a:latin typeface="PT Sans Bold" pitchFamily="34" charset="0"/>
                <a:ea typeface="PT Sans Bold" pitchFamily="34" charset="-122"/>
              </a:rPr>
              <a:t>פשטות וריכוז ללא עומס קוגניטיבי</a:t>
            </a:r>
            <a:r>
              <a:rPr lang="he-IL" alt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. המשימות מסווגות ומאורגנות בצורה נקייה ומושכות מידע דינמי, כך שדניאל תמיד יודע מה הדבר הבא שצריך לעשות — בלי לשקוע ברשימות ארוכות ומבלבלות.</a:t>
            </a:r>
            <a:endParaRPr lang="he-IL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531" y="2016767"/>
            <a:ext cx="659128" cy="6591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96569" y="2046367"/>
            <a:ext cx="1989230" cy="222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20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צ'קליסט משימות ראשי</a:t>
            </a:r>
            <a:endParaRPr lang="he-IL" sz="1200" b="1" dirty="0"/>
          </a:p>
        </p:txBody>
      </p:sp>
      <p:sp>
        <p:nvSpPr>
          <p:cNvPr id="6" name="Text 3"/>
          <p:cNvSpPr/>
          <p:nvPr/>
        </p:nvSpPr>
        <p:spPr>
          <a:xfrm>
            <a:off x="6049125" y="2266761"/>
            <a:ext cx="1989230" cy="96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רשימת משימות נגללת בדף הבית המרכזת את כל המטלות של דניאל עם סימון V מהיר ומחיקה או העברה לארכיון. </a:t>
            </a:r>
            <a:r>
              <a:rPr lang="he-IL" altLang="en-US" sz="10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</a:rPr>
              <a:t>תעדוף: קריטי | שלב: MVP</a:t>
            </a:r>
            <a:endParaRPr lang="he-IL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7441" y="2016767"/>
            <a:ext cx="659128" cy="6591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95656" y="2031261"/>
            <a:ext cx="1989230" cy="44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rtl="1">
              <a:lnSpc>
                <a:spcPct val="104000"/>
              </a:lnSpc>
              <a:buNone/>
            </a:pPr>
            <a:r>
              <a:rPr lang="he-IL" altLang="en-US" sz="120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רצועת מדד אנרגיה</a:t>
            </a:r>
            <a:endParaRPr lang="he-IL" sz="1200" b="1" dirty="0"/>
          </a:p>
        </p:txBody>
      </p:sp>
      <p:sp>
        <p:nvSpPr>
          <p:cNvPr id="9" name="Text 5"/>
          <p:cNvSpPr/>
          <p:nvPr/>
        </p:nvSpPr>
        <p:spPr>
          <a:xfrm>
            <a:off x="3256623" y="2250329"/>
            <a:ext cx="1989230" cy="1453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וידג'ט בדף הבית המאפשר לדניאל לסמן את רמת האנרגיה שלו (נמוכה / בינונית / גבוהה). המערכת מסננת אוטומטית ומציעה משימות מתאימות למצב הרוח והעומס. </a:t>
            </a:r>
            <a:r>
              <a:rPr lang="he-IL" altLang="en-US" sz="10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</a:rPr>
              <a:t>תעדוף: גבוה | שלב: MVP</a:t>
            </a:r>
            <a:endParaRPr lang="he-IL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0290" y="2016767"/>
            <a:ext cx="659128" cy="6591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5758" y="2046367"/>
            <a:ext cx="1989310" cy="222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04000"/>
              </a:lnSpc>
              <a:buNone/>
            </a:pPr>
            <a:r>
              <a:rPr lang="he-IL" altLang="en-US" sz="120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מטלות עבודה ופרויקטים</a:t>
            </a:r>
            <a:endParaRPr lang="he-IL" sz="1200" b="1" dirty="0"/>
          </a:p>
        </p:txBody>
      </p:sp>
      <p:sp>
        <p:nvSpPr>
          <p:cNvPr id="12" name="Text 7"/>
          <p:cNvSpPr/>
          <p:nvPr/>
        </p:nvSpPr>
        <p:spPr>
          <a:xfrm>
            <a:off x="313202" y="2269091"/>
            <a:ext cx="1989310" cy="121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תת-קטגוריה ייעודית מופרדת צבעונית המרכזת משימות לניהול הפעילות העסקית השוטפת והפרויקטים הגדולים. </a:t>
            </a:r>
            <a:r>
              <a:rPr lang="he-IL" altLang="en-US" sz="10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</a:rPr>
              <a:t>תעדוף: גבוה | שלב: MVP</a:t>
            </a:r>
            <a:endParaRPr lang="he-IL" sz="1000" dirty="0"/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1B146F95-678C-9A76-11B1-E6126F782865}"/>
              </a:ext>
            </a:extLst>
          </p:cNvPr>
          <p:cNvSpPr/>
          <p:nvPr/>
        </p:nvSpPr>
        <p:spPr>
          <a:xfrm>
            <a:off x="7524206" y="4800599"/>
            <a:ext cx="1619794" cy="333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086" y="298475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24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משימות וסדר יום — רכיבים נוספים</a:t>
            </a:r>
            <a:endParaRPr lang="he-IL" sz="2400" dirty="0"/>
          </a:p>
        </p:txBody>
      </p:sp>
      <p:sp>
        <p:nvSpPr>
          <p:cNvPr id="3" name="Shape 1"/>
          <p:cNvSpPr/>
          <p:nvPr/>
        </p:nvSpPr>
        <p:spPr>
          <a:xfrm>
            <a:off x="429295" y="1645146"/>
            <a:ext cx="4077295" cy="2434456"/>
          </a:xfrm>
          <a:prstGeom prst="roundRect">
            <a:avLst>
              <a:gd name="adj" fmla="val 12906"/>
            </a:avLst>
          </a:prstGeom>
          <a:solidFill>
            <a:srgbClr val="2D4DF2">
              <a:alpha val="75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60189" y="1776040"/>
            <a:ext cx="3815507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04000"/>
              </a:lnSpc>
              <a:buNone/>
            </a:pPr>
            <a:r>
              <a:rPr lang="he-IL" altLang="en-US" sz="1600" b="1" u="sng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</a:rPr>
              <a:t>בריאות, כושר ואימונים</a:t>
            </a:r>
            <a:endParaRPr lang="he-IL" sz="1600" b="1" u="sng" dirty="0"/>
          </a:p>
        </p:txBody>
      </p:sp>
      <p:sp>
        <p:nvSpPr>
          <p:cNvPr id="5" name="Text 3"/>
          <p:cNvSpPr/>
          <p:nvPr/>
        </p:nvSpPr>
        <p:spPr>
          <a:xfrm>
            <a:off x="560189" y="2099444"/>
            <a:ext cx="3815507" cy="955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rtl="1">
              <a:lnSpc>
                <a:spcPct val="133000"/>
              </a:lnSpc>
              <a:spcAft>
                <a:spcPts val="900"/>
              </a:spcAft>
              <a:buNone/>
            </a:pPr>
            <a:r>
              <a:rPr lang="he-IL" alt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</a:rPr>
              <a:t>מעקב אימונים שבועי, תזכורות לשתיית מים ופעילות גופנית המותאמים למדד האנרגיה של דניאל. המערכת מתאימה את עצימות הפעילות הגופנית לרמת האנרגיה שנבחרה.</a:t>
            </a:r>
            <a:endParaRPr lang="he-IL" sz="1000" dirty="0"/>
          </a:p>
          <a:p>
            <a:pPr marL="0" indent="0" algn="ctr" rtl="1">
              <a:lnSpc>
                <a:spcPct val="133000"/>
              </a:lnSpc>
              <a:buNone/>
            </a:pPr>
            <a:r>
              <a:rPr lang="he-IL" alt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</a:rPr>
              <a:t>תעדוף: בינוני | שלב: MVP</a:t>
            </a:r>
            <a:endParaRPr lang="he-IL" sz="1000" dirty="0"/>
          </a:p>
        </p:txBody>
      </p:sp>
      <p:sp>
        <p:nvSpPr>
          <p:cNvPr id="6" name="Text 4"/>
          <p:cNvSpPr/>
          <p:nvPr/>
        </p:nvSpPr>
        <p:spPr>
          <a:xfrm>
            <a:off x="4736455" y="1776040"/>
            <a:ext cx="388873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20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סידורים כללי ויומיים</a:t>
            </a:r>
            <a:endParaRPr lang="he-IL" sz="1200" b="1" dirty="0"/>
          </a:p>
        </p:txBody>
      </p:sp>
      <p:sp>
        <p:nvSpPr>
          <p:cNvPr id="7" name="Text 5"/>
          <p:cNvSpPr/>
          <p:nvPr/>
        </p:nvSpPr>
        <p:spPr>
          <a:xfrm>
            <a:off x="4736455" y="2099444"/>
            <a:ext cx="3888730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ניהול משימות קטנות ומהירות של היום-יום (כגון: להתקשר למישהו, לקחת חבילה) שאינן דורשות תכנון ארוך טווח. </a:t>
            </a:r>
            <a:r>
              <a:rPr lang="he-IL" altLang="en-US" sz="10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</a:rPr>
              <a:t>תעדוף: קריטי | שלב: MVP</a:t>
            </a:r>
            <a:endParaRPr lang="he-IL" sz="1000" dirty="0"/>
          </a:p>
        </p:txBody>
      </p:sp>
      <p:sp>
        <p:nvSpPr>
          <p:cNvPr id="8" name="Shape 6"/>
          <p:cNvSpPr/>
          <p:nvPr/>
        </p:nvSpPr>
        <p:spPr>
          <a:xfrm>
            <a:off x="4736455" y="2698179"/>
            <a:ext cx="3888730" cy="14288"/>
          </a:xfrm>
          <a:prstGeom prst="roundRect">
            <a:avLst>
              <a:gd name="adj" fmla="val 59998"/>
            </a:avLst>
          </a:prstGeom>
          <a:solidFill>
            <a:srgbClr val="00002E">
              <a:alpha val="50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4736455" y="2892400"/>
            <a:ext cx="388873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20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סנכרון יומן מלא ומפות לו"ז</a:t>
            </a:r>
            <a:endParaRPr lang="he-IL" sz="1200" b="1" dirty="0"/>
          </a:p>
        </p:txBody>
      </p:sp>
      <p:sp>
        <p:nvSpPr>
          <p:cNvPr id="10" name="Text 8"/>
          <p:cNvSpPr/>
          <p:nvPr/>
        </p:nvSpPr>
        <p:spPr>
          <a:xfrm>
            <a:off x="4736455" y="3215804"/>
            <a:ext cx="3888730" cy="746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3000"/>
              </a:lnSpc>
              <a:spcAft>
                <a:spcPts val="900"/>
              </a:spcAft>
              <a:buNone/>
            </a:pPr>
            <a:r>
              <a:rPr lang="he-IL" alt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אינטגרציה דו-כיוונית מלאה ל-Google Calendar שמציגה פגישות קבועות לצד המשימות על ציר זמן יומי אחד, כך שכל המחויבויות נראות במקום אחד.</a:t>
            </a:r>
            <a:endParaRPr lang="he-IL" sz="1000" dirty="0"/>
          </a:p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0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</a:rPr>
              <a:t>תעדוף: גבוה | שלב: ב'</a:t>
            </a:r>
            <a:endParaRPr lang="he-IL" sz="1000" dirty="0"/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E8B86C7A-17E5-0B75-895E-A3B0864A3E93}"/>
              </a:ext>
            </a:extLst>
          </p:cNvPr>
          <p:cNvSpPr/>
          <p:nvPr/>
        </p:nvSpPr>
        <p:spPr>
          <a:xfrm>
            <a:off x="7524206" y="4800599"/>
            <a:ext cx="1619794" cy="333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617" y="109041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24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עמוד תווך 2: פיננסים ותקציב</a:t>
            </a:r>
            <a:endParaRPr lang="he-IL" sz="2400" dirty="0"/>
          </a:p>
        </p:txBody>
      </p:sp>
      <p:sp>
        <p:nvSpPr>
          <p:cNvPr id="3" name="Text 1"/>
          <p:cNvSpPr/>
          <p:nvPr/>
        </p:nvSpPr>
        <p:spPr>
          <a:xfrm>
            <a:off x="843616" y="829642"/>
            <a:ext cx="8096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ניהול פיננסי מלא ומאובטח המאפשר </a:t>
            </a:r>
            <a:r>
              <a:rPr lang="he-IL" altLang="en-US" sz="1050" b="1" dirty="0">
                <a:solidFill>
                  <a:srgbClr val="2D4DF2"/>
                </a:solidFill>
                <a:latin typeface="PT Sans Bold" pitchFamily="34" charset="0"/>
                <a:ea typeface="PT Sans Bold" pitchFamily="34" charset="-122"/>
              </a:rPr>
              <a:t>הפרדה מוחלטת וקדושה</a:t>
            </a:r>
            <a:r>
              <a:rPr lang="he-IL" alt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 בין ההתנהלות הביתית האישית לבין הפעילות העסקית, עם מעקב צמוד ויעיל. המערכת מבטיחה שכל שקל מנוהל בצורה נכונה — בין אם מדובר בהוצאות שוטפות של הבית או בתזרים המזומנים של העסק.</a:t>
            </a:r>
            <a:endParaRPr lang="he-IL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8787" y="1617464"/>
            <a:ext cx="2611636" cy="1398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53969" y="1762646"/>
            <a:ext cx="2264122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20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פיננסים אישיים (משפחה ובית)</a:t>
            </a:r>
            <a:endParaRPr lang="he-IL" sz="1200" b="1" dirty="0"/>
          </a:p>
        </p:txBody>
      </p:sp>
      <p:sp>
        <p:nvSpPr>
          <p:cNvPr id="6" name="Text 3"/>
          <p:cNvSpPr/>
          <p:nvPr/>
        </p:nvSpPr>
        <p:spPr>
          <a:xfrm>
            <a:off x="6153969" y="2033662"/>
            <a:ext cx="2264122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מעקב מהיר אחר הוצאות שוטפות של הבית — סופר, קניות, פנאי, ילדים, חשבונות קבועים — והזנתן בשניות. </a:t>
            </a:r>
            <a:r>
              <a:rPr lang="he-IL" altLang="en-US" sz="10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</a:rPr>
              <a:t>תעדוף: קריטי | שלב: MVP</a:t>
            </a:r>
            <a:endParaRPr lang="he-IL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6182" y="1617464"/>
            <a:ext cx="2611710" cy="13989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11364" y="1762646"/>
            <a:ext cx="2264197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20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פיננסים עסקיים (תזרים והוצאות)</a:t>
            </a:r>
            <a:endParaRPr lang="he-IL" sz="1200" b="1" dirty="0"/>
          </a:p>
        </p:txBody>
      </p:sp>
      <p:sp>
        <p:nvSpPr>
          <p:cNvPr id="9" name="Text 5"/>
          <p:cNvSpPr/>
          <p:nvPr/>
        </p:nvSpPr>
        <p:spPr>
          <a:xfrm>
            <a:off x="3411364" y="2033662"/>
            <a:ext cx="2264197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אזור נפרד לחלוטין המנהל את תזרים המזומנים של העסק, הוצאות מוכרות למס ומעקב פגישות/משימות מול רואה החשבון. </a:t>
            </a:r>
            <a:r>
              <a:rPr lang="he-IL" altLang="en-US" sz="10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</a:rPr>
              <a:t>תעדוף: קריטי | שלב: MVP</a:t>
            </a:r>
            <a:endParaRPr lang="he-IL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7" y="1617464"/>
            <a:ext cx="2611710" cy="13989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8759" y="1762646"/>
            <a:ext cx="2264197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20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כרטיס תקציב חודשי</a:t>
            </a:r>
            <a:endParaRPr lang="he-IL" sz="1200" b="1" dirty="0"/>
          </a:p>
        </p:txBody>
      </p:sp>
      <p:sp>
        <p:nvSpPr>
          <p:cNvPr id="12" name="Text 7"/>
          <p:cNvSpPr/>
          <p:nvPr/>
        </p:nvSpPr>
        <p:spPr>
          <a:xfrm>
            <a:off x="668759" y="2033662"/>
            <a:ext cx="2264197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מדד ויזואלי של "תקציב מול ביצוע" המראה כמה נשאר לבזבז החודש עם נוריות התראה למניעת חריגות. </a:t>
            </a:r>
            <a:r>
              <a:rPr lang="he-IL" altLang="en-US" sz="10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</a:rPr>
              <a:t>תעדוף: גבוה | שלב: MVP</a:t>
            </a:r>
            <a:endParaRPr lang="he-IL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08787" y="3147343"/>
            <a:ext cx="2611636" cy="159149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53969" y="3292525"/>
            <a:ext cx="2264122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20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חיסכון והשקעות</a:t>
            </a:r>
            <a:endParaRPr lang="he-IL" sz="1200" b="1" dirty="0"/>
          </a:p>
        </p:txBody>
      </p:sp>
      <p:sp>
        <p:nvSpPr>
          <p:cNvPr id="15" name="Text 9"/>
          <p:cNvSpPr/>
          <p:nvPr/>
        </p:nvSpPr>
        <p:spPr>
          <a:xfrm>
            <a:off x="6153969" y="3563541"/>
            <a:ext cx="2264122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מעקב אחר תיקי ההשקעות, חיסכון חודשי קבוע וצביעת כספים למטרות ויעדים ארוכי טווח. </a:t>
            </a:r>
            <a:r>
              <a:rPr lang="he-IL" altLang="en-US" sz="10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</a:rPr>
              <a:t>תעדוף: בינוני | שלב: MVP</a:t>
            </a:r>
            <a:endParaRPr lang="he-IL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66182" y="3147343"/>
            <a:ext cx="2611710" cy="159149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331030" y="3292525"/>
            <a:ext cx="2344532" cy="385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20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אינטגרציה בנקאית (Open Banking)</a:t>
            </a:r>
            <a:endParaRPr lang="he-IL" sz="1200" b="1" dirty="0"/>
          </a:p>
        </p:txBody>
      </p:sp>
      <p:sp>
        <p:nvSpPr>
          <p:cNvPr id="18" name="Text 11"/>
          <p:cNvSpPr/>
          <p:nvPr/>
        </p:nvSpPr>
        <p:spPr>
          <a:xfrm>
            <a:off x="3411363" y="3563541"/>
            <a:ext cx="2264197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חיבור ישיר ומאובטח לחשבונות הבנק וכרטיסי האשראי של דניאל למשיכת נתוני תנועות אוטומטית ללא צורך בהקלדה ידנית. </a:t>
            </a:r>
            <a:r>
              <a:rPr lang="he-IL" altLang="en-US" sz="10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</a:rPr>
              <a:t>תעדוף: בינוני | שלב: ב'</a:t>
            </a:r>
            <a:endParaRPr lang="he-IL" sz="1000" dirty="0"/>
          </a:p>
        </p:txBody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36CC2A4D-11A8-AE8A-CDA0-4E03CB7918E3}"/>
              </a:ext>
            </a:extLst>
          </p:cNvPr>
          <p:cNvSpPr/>
          <p:nvPr/>
        </p:nvSpPr>
        <p:spPr>
          <a:xfrm>
            <a:off x="7524206" y="4800599"/>
            <a:ext cx="1619794" cy="333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149" y="177998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24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עמוד תווך 3: מנוע AI ועוזר קולי</a:t>
            </a:r>
            <a:endParaRPr lang="he-IL" sz="2400" dirty="0"/>
          </a:p>
        </p:txBody>
      </p:sp>
      <p:sp>
        <p:nvSpPr>
          <p:cNvPr id="3" name="Text 1"/>
          <p:cNvSpPr/>
          <p:nvPr/>
        </p:nvSpPr>
        <p:spPr>
          <a:xfrm>
            <a:off x="752177" y="1133170"/>
            <a:ext cx="8096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מנוע ה-AI מהווה את </a:t>
            </a:r>
            <a:r>
              <a:rPr lang="he-IL" altLang="en-US" sz="1100" b="1" dirty="0">
                <a:solidFill>
                  <a:srgbClr val="2D4DF2"/>
                </a:solidFill>
                <a:latin typeface="PT Sans Bold" pitchFamily="34" charset="0"/>
                <a:ea typeface="PT Sans Bold" pitchFamily="34" charset="-122"/>
              </a:rPr>
              <a:t>המוח של המערכת</a:t>
            </a:r>
            <a:r>
              <a:rPr lang="he-IL" alt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. הוא מוריד את נטל ההקלדה והניהול על ידי עיבוד שפה טבעית ופענוח נתונים חכם — כך שדניאל יכול לתקשר עם המערכת בצורה טבעית וחופשית.</a:t>
            </a:r>
            <a:endParaRPr lang="he-IL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93150" y="2273647"/>
            <a:ext cx="327273" cy="3272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0590" y="2764557"/>
            <a:ext cx="258983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20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בוט וואטסאפ להודעות קוליות</a:t>
            </a:r>
            <a:endParaRPr lang="he-IL" sz="1200" b="1" dirty="0"/>
          </a:p>
        </p:txBody>
      </p:sp>
      <p:sp>
        <p:nvSpPr>
          <p:cNvPr id="6" name="Text 3"/>
          <p:cNvSpPr/>
          <p:nvPr/>
        </p:nvSpPr>
        <p:spPr>
          <a:xfrm>
            <a:off x="6030590" y="3035573"/>
            <a:ext cx="2589833" cy="1047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שליחת הודעה קולית חופשית בעברית בוואטסאפ — למשל: "אל תשכח להזכיר לי לחדש את ביטוח הרכב מחר בשמונה". הבוט מעבד, מבין ומוסיף משימה מובנית ישירות לאפליקציה. </a:t>
            </a:r>
            <a:r>
              <a:rPr lang="he-IL" altLang="en-US" sz="10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</a:rPr>
              <a:t>תעדוף: קריטי | שלב: MVP</a:t>
            </a:r>
            <a:endParaRPr lang="he-IL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9680" y="2273647"/>
            <a:ext cx="327273" cy="3272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7121" y="2764557"/>
            <a:ext cx="258983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20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תיבת AI Insights</a:t>
            </a:r>
            <a:endParaRPr lang="he-IL" sz="1200" b="1" dirty="0"/>
          </a:p>
        </p:txBody>
      </p:sp>
      <p:sp>
        <p:nvSpPr>
          <p:cNvPr id="9" name="Text 5"/>
          <p:cNvSpPr/>
          <p:nvPr/>
        </p:nvSpPr>
        <p:spPr>
          <a:xfrm>
            <a:off x="3277121" y="3035573"/>
            <a:ext cx="2589833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כרטיס ייעודי בדף הבית המציג המלצות פרואקטיביות המבוססות על הנתונים שלך — למשל: "שים לב לחריגה בהוצאות הדלק החודש". </a:t>
            </a:r>
            <a:r>
              <a:rPr lang="he-IL" altLang="en-US" sz="10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</a:rPr>
              <a:t>תעדוף: גבוה | שלב: MVP</a:t>
            </a:r>
            <a:endParaRPr lang="he-IL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6211" y="2273647"/>
            <a:ext cx="327273" cy="32727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3577" y="2764557"/>
            <a:ext cx="2589907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20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סורק מסמכים חכם (OCR)</a:t>
            </a:r>
            <a:endParaRPr lang="he-IL" sz="1200" b="1" dirty="0"/>
          </a:p>
        </p:txBody>
      </p:sp>
      <p:sp>
        <p:nvSpPr>
          <p:cNvPr id="12" name="Text 7"/>
          <p:cNvSpPr/>
          <p:nvPr/>
        </p:nvSpPr>
        <p:spPr>
          <a:xfrm>
            <a:off x="523577" y="3035573"/>
            <a:ext cx="2589907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צילום טקסט, פוליסות, טפסים מורכבים או קבלות; ה-AI מפענח את הפרטים, מחלץ תאריכי תפוגה וסכומים ומתייק אוטומטית. </a:t>
            </a:r>
            <a:r>
              <a:rPr lang="he-IL" altLang="en-US" sz="10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</a:rPr>
              <a:t>תעדוף: בינוני | שלב: ב'</a:t>
            </a:r>
            <a:endParaRPr lang="he-IL" sz="1000" dirty="0"/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1C786745-35D2-96EE-BDC2-31BEA43ECF67}"/>
              </a:ext>
            </a:extLst>
          </p:cNvPr>
          <p:cNvSpPr/>
          <p:nvPr/>
        </p:nvSpPr>
        <p:spPr>
          <a:xfrm>
            <a:off x="7524206" y="4800599"/>
            <a:ext cx="1619794" cy="333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7492" y="206686"/>
            <a:ext cx="8096845" cy="372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230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עמוד תווך 4: ניהול הבית והמשפחה</a:t>
            </a:r>
            <a:endParaRPr lang="he-IL" sz="2300" b="1" dirty="0"/>
          </a:p>
        </p:txBody>
      </p:sp>
      <p:sp>
        <p:nvSpPr>
          <p:cNvPr id="3" name="Text 1"/>
          <p:cNvSpPr/>
          <p:nvPr/>
        </p:nvSpPr>
        <p:spPr>
          <a:xfrm>
            <a:off x="66377" y="1077069"/>
            <a:ext cx="8554045" cy="199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1000"/>
              </a:lnSpc>
              <a:buNone/>
            </a:pPr>
            <a:r>
              <a:rPr lang="he-IL" alt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מרכז בקרה שקט ללוגיסטיקה, בירוקרטיה, רכב וביטוחים, המבטיח </a:t>
            </a:r>
            <a:r>
              <a:rPr lang="he-IL" altLang="en-US" sz="1100" b="1" dirty="0">
                <a:solidFill>
                  <a:srgbClr val="2D4DF2"/>
                </a:solidFill>
                <a:latin typeface="PT Sans Bold" pitchFamily="34" charset="0"/>
                <a:ea typeface="PT Sans Bold" pitchFamily="34" charset="-122"/>
              </a:rPr>
              <a:t>ריכוז מסמכים ותאריכים קריטיים במקום אחד</a:t>
            </a:r>
            <a:r>
              <a:rPr lang="he-IL" alt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 למניעת קנסות ופספוסים.</a:t>
            </a:r>
            <a:endParaRPr lang="he-IL" sz="1100" dirty="0"/>
          </a:p>
        </p:txBody>
      </p:sp>
      <p:sp>
        <p:nvSpPr>
          <p:cNvPr id="4" name="Shape 2"/>
          <p:cNvSpPr/>
          <p:nvPr/>
        </p:nvSpPr>
        <p:spPr>
          <a:xfrm>
            <a:off x="4633392" y="1414909"/>
            <a:ext cx="3987031" cy="1141288"/>
          </a:xfrm>
          <a:prstGeom prst="roundRect">
            <a:avLst>
              <a:gd name="adj" fmla="val 16668"/>
            </a:avLst>
          </a:prstGeom>
          <a:solidFill>
            <a:srgbClr val="F3F3FF"/>
          </a:solidFill>
          <a:ln w="14288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4774481" y="1555998"/>
            <a:ext cx="3704853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</a:rPr>
              <a:t>🚗</a:t>
            </a:r>
            <a:r>
              <a:rPr lang="he-IL" altLang="en-US" sz="115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 מעקב רכב ואחזקה</a:t>
            </a:r>
            <a:endParaRPr lang="he-IL" sz="1150" b="1" dirty="0"/>
          </a:p>
        </p:txBody>
      </p:sp>
      <p:sp>
        <p:nvSpPr>
          <p:cNvPr id="6" name="Text 4"/>
          <p:cNvSpPr/>
          <p:nvPr/>
        </p:nvSpPr>
        <p:spPr>
          <a:xfrm>
            <a:off x="4774481" y="1816150"/>
            <a:ext cx="3704853" cy="598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1000"/>
              </a:lnSpc>
              <a:buNone/>
            </a:pPr>
            <a:r>
              <a:rPr lang="he-IL" altLang="en-US" sz="9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ריכוז משימות הרכב: התרעות על מועד טסט שנתי (30, 14 ו-3 ימים מראש), ביטוח חובה, מקיף וטיפולים תקופתיים במוסך. </a:t>
            </a:r>
            <a:r>
              <a:rPr lang="he-IL" altLang="en-US" sz="9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</a:rPr>
              <a:t>תעדוף: קריטי | שלב: MVP</a:t>
            </a:r>
            <a:endParaRPr lang="he-IL" sz="950" dirty="0"/>
          </a:p>
        </p:txBody>
      </p:sp>
      <p:sp>
        <p:nvSpPr>
          <p:cNvPr id="7" name="Shape 5"/>
          <p:cNvSpPr/>
          <p:nvPr/>
        </p:nvSpPr>
        <p:spPr>
          <a:xfrm>
            <a:off x="523577" y="1414909"/>
            <a:ext cx="3987031" cy="1141288"/>
          </a:xfrm>
          <a:prstGeom prst="roundRect">
            <a:avLst>
              <a:gd name="adj" fmla="val 16668"/>
            </a:avLst>
          </a:prstGeom>
          <a:solidFill>
            <a:srgbClr val="F3F3FF"/>
          </a:solidFill>
          <a:ln w="14288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664666" y="1555998"/>
            <a:ext cx="3704853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</a:rPr>
              <a:t>📋</a:t>
            </a:r>
            <a:r>
              <a:rPr lang="he-IL" altLang="en-US" sz="115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 בירוקרטיה, ביטוחים ודיור</a:t>
            </a:r>
            <a:endParaRPr lang="he-IL" sz="1150" b="1" dirty="0"/>
          </a:p>
        </p:txBody>
      </p:sp>
      <p:sp>
        <p:nvSpPr>
          <p:cNvPr id="9" name="Text 7"/>
          <p:cNvSpPr/>
          <p:nvPr/>
        </p:nvSpPr>
        <p:spPr>
          <a:xfrm>
            <a:off x="664666" y="1816150"/>
            <a:ext cx="3704853" cy="399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1000"/>
              </a:lnSpc>
              <a:buNone/>
            </a:pPr>
            <a:r>
              <a:rPr lang="he-IL" altLang="en-US" sz="9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ריכוז פוליסות ביטוח המבנה, התכולה, ביטוחי הבריאות של בני המשפחה ומעקב אחר תאריכי תפוגה וקפיצות מחירים. </a:t>
            </a:r>
            <a:r>
              <a:rPr lang="he-IL" altLang="en-US" sz="9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</a:rPr>
              <a:t>תעדוף: גבוה | שלב: MVP</a:t>
            </a:r>
            <a:endParaRPr lang="he-IL" sz="950" dirty="0"/>
          </a:p>
        </p:txBody>
      </p:sp>
      <p:sp>
        <p:nvSpPr>
          <p:cNvPr id="10" name="Shape 8"/>
          <p:cNvSpPr/>
          <p:nvPr/>
        </p:nvSpPr>
        <p:spPr>
          <a:xfrm>
            <a:off x="4633392" y="2678981"/>
            <a:ext cx="3987031" cy="941636"/>
          </a:xfrm>
          <a:prstGeom prst="roundRect">
            <a:avLst>
              <a:gd name="adj" fmla="val 20202"/>
            </a:avLst>
          </a:prstGeom>
          <a:solidFill>
            <a:srgbClr val="F3F3FF"/>
          </a:solidFill>
          <a:ln w="14288">
            <a:solidFill>
              <a:srgbClr val="DA33B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4774481" y="2820070"/>
            <a:ext cx="3704853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</a:rPr>
              <a:t>🔒</a:t>
            </a:r>
            <a:r>
              <a:rPr lang="he-IL" altLang="en-US" sz="115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 מרכז מסמכים מאובטח</a:t>
            </a:r>
            <a:endParaRPr lang="he-IL" sz="1150" b="1" dirty="0"/>
          </a:p>
        </p:txBody>
      </p:sp>
      <p:sp>
        <p:nvSpPr>
          <p:cNvPr id="12" name="Text 10"/>
          <p:cNvSpPr/>
          <p:nvPr/>
        </p:nvSpPr>
        <p:spPr>
          <a:xfrm>
            <a:off x="4774481" y="3080221"/>
            <a:ext cx="3704853" cy="399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1000"/>
              </a:lnSpc>
              <a:buNone/>
            </a:pPr>
            <a:r>
              <a:rPr lang="he-IL" altLang="en-US" sz="9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תיקייה דיגיטלית מסווגת לשמירה ותצוגה מהירה של תעודות זהות, רישיונות, פוליסות ומסמכים חיוניים בשעת חירום. </a:t>
            </a:r>
            <a:r>
              <a:rPr lang="he-IL" altLang="en-US" sz="9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</a:rPr>
              <a:t>תעדוף: גבוה | שלב: MVP</a:t>
            </a:r>
            <a:endParaRPr lang="he-IL" sz="950" dirty="0"/>
          </a:p>
        </p:txBody>
      </p:sp>
      <p:sp>
        <p:nvSpPr>
          <p:cNvPr id="13" name="Shape 11"/>
          <p:cNvSpPr/>
          <p:nvPr/>
        </p:nvSpPr>
        <p:spPr>
          <a:xfrm>
            <a:off x="523577" y="2678981"/>
            <a:ext cx="3987031" cy="941636"/>
          </a:xfrm>
          <a:prstGeom prst="roundRect">
            <a:avLst>
              <a:gd name="adj" fmla="val 20202"/>
            </a:avLst>
          </a:prstGeom>
          <a:solidFill>
            <a:srgbClr val="F3F3FF"/>
          </a:solidFill>
          <a:ln w="14288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664666" y="2820070"/>
            <a:ext cx="3704853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</a:rPr>
              <a:t>🛒</a:t>
            </a:r>
            <a:r>
              <a:rPr lang="he-IL" altLang="en-US" sz="115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 לוגיסטיקה ורשימת קניות</a:t>
            </a:r>
            <a:endParaRPr lang="he-IL" sz="1150" b="1" dirty="0"/>
          </a:p>
        </p:txBody>
      </p:sp>
      <p:sp>
        <p:nvSpPr>
          <p:cNvPr id="15" name="Text 13"/>
          <p:cNvSpPr/>
          <p:nvPr/>
        </p:nvSpPr>
        <p:spPr>
          <a:xfrm>
            <a:off x="664666" y="3080221"/>
            <a:ext cx="3704853" cy="399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1000"/>
              </a:lnSpc>
              <a:buNone/>
            </a:pPr>
            <a:r>
              <a:rPr lang="he-IL" altLang="en-US" sz="9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ניהול רשימת קניות לבית ומוצרי צריכה בסיסיים, המאפשר סנכרון ושיתוף מהיר בין בני המשפחה. </a:t>
            </a:r>
            <a:r>
              <a:rPr lang="he-IL" altLang="en-US" sz="9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</a:rPr>
              <a:t>תעדוף: בינוני | שלב: ב'</a:t>
            </a:r>
            <a:endParaRPr lang="he-IL" sz="950" dirty="0"/>
          </a:p>
        </p:txBody>
      </p:sp>
      <p:sp>
        <p:nvSpPr>
          <p:cNvPr id="16" name="Shape 14"/>
          <p:cNvSpPr/>
          <p:nvPr/>
        </p:nvSpPr>
        <p:spPr>
          <a:xfrm>
            <a:off x="523577" y="3743399"/>
            <a:ext cx="8096845" cy="941636"/>
          </a:xfrm>
          <a:prstGeom prst="roundRect">
            <a:avLst>
              <a:gd name="adj" fmla="val 20202"/>
            </a:avLst>
          </a:prstGeom>
          <a:solidFill>
            <a:srgbClr val="F3F3FF"/>
          </a:solidFill>
          <a:ln w="14288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664666" y="3884488"/>
            <a:ext cx="7814667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</a:rPr>
              <a:t>👶</a:t>
            </a:r>
            <a:r>
              <a:rPr lang="he-IL" altLang="en-US" sz="115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 ניהול ילדים ודוקומנטציה</a:t>
            </a:r>
            <a:endParaRPr lang="he-IL" sz="1150" b="1" dirty="0"/>
          </a:p>
        </p:txBody>
      </p:sp>
      <p:sp>
        <p:nvSpPr>
          <p:cNvPr id="18" name="Text 16"/>
          <p:cNvSpPr/>
          <p:nvPr/>
        </p:nvSpPr>
        <p:spPr>
          <a:xfrm>
            <a:off x="664666" y="4144640"/>
            <a:ext cx="7814667" cy="399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1000"/>
              </a:lnSpc>
              <a:buNone/>
            </a:pPr>
            <a:r>
              <a:rPr lang="he-IL" altLang="en-US" sz="9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ריכוז מסמכי הילדים: חוגים ופעילויות חוץ-בית-ספריות, טפסים רפואיים, רישומי חיסונים ותכתובות עם בית הספר — הכל נגיש ומסודר במקום אחד. </a:t>
            </a:r>
            <a:r>
              <a:rPr lang="he-IL" altLang="en-US" sz="9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</a:rPr>
              <a:t>תעדוף: גבוה | שלב: MVP</a:t>
            </a:r>
            <a:endParaRPr lang="he-IL" sz="950" dirty="0"/>
          </a:p>
        </p:txBody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71E6DD00-EBDE-1304-4DE0-3C04211693CF}"/>
              </a:ext>
            </a:extLst>
          </p:cNvPr>
          <p:cNvSpPr/>
          <p:nvPr/>
        </p:nvSpPr>
        <p:spPr>
          <a:xfrm>
            <a:off x="7524206" y="4800599"/>
            <a:ext cx="1619794" cy="333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4022" y="245084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240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תוכנית הפיתוח: שלב א' — MVP</a:t>
            </a:r>
            <a:endParaRPr lang="he-IL" sz="2400" b="1" dirty="0"/>
          </a:p>
        </p:txBody>
      </p:sp>
      <p:sp>
        <p:nvSpPr>
          <p:cNvPr id="3" name="Text 1"/>
          <p:cNvSpPr/>
          <p:nvPr/>
        </p:nvSpPr>
        <p:spPr>
          <a:xfrm>
            <a:off x="824022" y="1006340"/>
            <a:ext cx="8096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 rtl="1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המערכת הוגדרה באופן המאפשר </a:t>
            </a:r>
            <a:r>
              <a:rPr lang="he-IL" altLang="en-US" sz="1100" b="1" dirty="0">
                <a:solidFill>
                  <a:srgbClr val="2D4DF2"/>
                </a:solidFill>
                <a:latin typeface="PT Sans Bold" pitchFamily="34" charset="0"/>
                <a:ea typeface="PT Sans Bold" pitchFamily="34" charset="-122"/>
              </a:rPr>
              <a:t>פיתוח מדורג ומהיר</a:t>
            </a:r>
            <a:r>
              <a:rPr lang="he-IL" alt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. גרסת ה-MVP (שלב א') תתמקד בבניית תשתית דף הבית היוקרתי של DAOS, המשלב את כל הרכיבים הקריטיים ביותר לניהול חיים יומיומי.</a:t>
            </a:r>
            <a:endParaRPr lang="he-IL" sz="1100" dirty="0"/>
          </a:p>
        </p:txBody>
      </p:sp>
      <p:sp>
        <p:nvSpPr>
          <p:cNvPr id="4" name="Shape 2"/>
          <p:cNvSpPr/>
          <p:nvPr/>
        </p:nvSpPr>
        <p:spPr>
          <a:xfrm>
            <a:off x="523577" y="3073450"/>
            <a:ext cx="8096845" cy="14288"/>
          </a:xfrm>
          <a:prstGeom prst="roundRect">
            <a:avLst>
              <a:gd name="adj" fmla="val 1374352"/>
            </a:avLst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7318400" y="2680767"/>
            <a:ext cx="14288" cy="392683"/>
          </a:xfrm>
          <a:prstGeom prst="roundRect">
            <a:avLst>
              <a:gd name="adj" fmla="val 1374352"/>
            </a:avLst>
          </a:prstGeom>
          <a:solidFill>
            <a:srgbClr val="2D4DF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7178278" y="2926184"/>
            <a:ext cx="294531" cy="294531"/>
          </a:xfrm>
          <a:prstGeom prst="ellipse">
            <a:avLst/>
          </a:prstGeom>
          <a:solidFill>
            <a:srgbClr val="F3F3FF"/>
          </a:solidFill>
          <a:ln w="14288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7233158" y="2957959"/>
            <a:ext cx="18477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 rtl="1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Aharoni" panose="02010803020104030203" pitchFamily="2" charset="-79"/>
                <a:ea typeface="Nunito SemiBold" pitchFamily="34" charset="-122"/>
                <a:cs typeface="Aharoni" panose="02010803020104030203" pitchFamily="2" charset="-79"/>
              </a:rPr>
              <a:t>1</a:t>
            </a:r>
            <a:endParaRPr lang="en-US" sz="145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" name="Text 6"/>
          <p:cNvSpPr/>
          <p:nvPr/>
        </p:nvSpPr>
        <p:spPr>
          <a:xfrm>
            <a:off x="6161484" y="1860054"/>
            <a:ext cx="232804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04000"/>
              </a:lnSpc>
              <a:buNone/>
            </a:pPr>
            <a:r>
              <a:rPr lang="he-IL" altLang="en-US" sz="120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דף הבית</a:t>
            </a:r>
            <a:endParaRPr lang="he-IL" sz="1200" b="1" dirty="0"/>
          </a:p>
        </p:txBody>
      </p:sp>
      <p:sp>
        <p:nvSpPr>
          <p:cNvPr id="9" name="Text 7"/>
          <p:cNvSpPr/>
          <p:nvPr/>
        </p:nvSpPr>
        <p:spPr>
          <a:xfrm>
            <a:off x="6161484" y="2131070"/>
            <a:ext cx="2328044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rtl="1">
              <a:lnSpc>
                <a:spcPct val="133000"/>
              </a:lnSpc>
              <a:buNone/>
            </a:pPr>
            <a:r>
              <a:rPr lang="he-IL" alt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בניית דף הבית היוקרתי של DAOS עם צ'קליסט המשימות הראשי ומדד האנרגיה.</a:t>
            </a:r>
            <a:endParaRPr lang="he-IL" sz="1000" dirty="0"/>
          </a:p>
        </p:txBody>
      </p:sp>
      <p:sp>
        <p:nvSpPr>
          <p:cNvPr id="10" name="Shape 8"/>
          <p:cNvSpPr/>
          <p:nvPr/>
        </p:nvSpPr>
        <p:spPr>
          <a:xfrm>
            <a:off x="5941665" y="3073450"/>
            <a:ext cx="14288" cy="392683"/>
          </a:xfrm>
          <a:prstGeom prst="roundRect">
            <a:avLst>
              <a:gd name="adj" fmla="val 1374352"/>
            </a:avLst>
          </a:prstGeom>
          <a:solidFill>
            <a:srgbClr val="018CE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5801544" y="2926184"/>
            <a:ext cx="294531" cy="294531"/>
          </a:xfrm>
          <a:prstGeom prst="ellipse">
            <a:avLst/>
          </a:prstGeom>
          <a:solidFill>
            <a:srgbClr val="F3F3FF"/>
          </a:solidFill>
          <a:ln w="14288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5856424" y="2957959"/>
            <a:ext cx="18477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 rtl="1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Aharoni" panose="02010803020104030203" pitchFamily="2" charset="-79"/>
                <a:ea typeface="Nunito SemiBold" pitchFamily="34" charset="-122"/>
                <a:cs typeface="Aharoni" panose="02010803020104030203" pitchFamily="2" charset="-79"/>
              </a:rPr>
              <a:t>2</a:t>
            </a:r>
            <a:endParaRPr lang="en-US" sz="145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84750" y="3597027"/>
            <a:ext cx="232804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04000"/>
              </a:lnSpc>
              <a:buNone/>
            </a:pPr>
            <a:r>
              <a:rPr lang="he-IL" altLang="en-US" sz="120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משימות ואנרגיה</a:t>
            </a:r>
            <a:endParaRPr lang="he-IL" sz="1200" b="1" dirty="0"/>
          </a:p>
        </p:txBody>
      </p:sp>
      <p:sp>
        <p:nvSpPr>
          <p:cNvPr id="14" name="Text 12"/>
          <p:cNvSpPr/>
          <p:nvPr/>
        </p:nvSpPr>
        <p:spPr>
          <a:xfrm>
            <a:off x="4784750" y="3868043"/>
            <a:ext cx="2328044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rtl="1">
              <a:lnSpc>
                <a:spcPct val="133000"/>
              </a:lnSpc>
              <a:buNone/>
            </a:pPr>
            <a:r>
              <a:rPr lang="he-IL" alt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צ'קליסט משימות ראשי, סינון לפי רמות אנרגיה, מטלות עבודה ופרויקטים, סידורים יומיים ומעקב בריאות וכושר.</a:t>
            </a:r>
            <a:endParaRPr lang="he-IL" sz="1000" dirty="0"/>
          </a:p>
        </p:txBody>
      </p:sp>
      <p:sp>
        <p:nvSpPr>
          <p:cNvPr id="15" name="Shape 13"/>
          <p:cNvSpPr/>
          <p:nvPr/>
        </p:nvSpPr>
        <p:spPr>
          <a:xfrm>
            <a:off x="4564931" y="2680767"/>
            <a:ext cx="14288" cy="392683"/>
          </a:xfrm>
          <a:prstGeom prst="roundRect">
            <a:avLst>
              <a:gd name="adj" fmla="val 1374352"/>
            </a:avLst>
          </a:prstGeom>
          <a:solidFill>
            <a:srgbClr val="DA33B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Shape 14"/>
          <p:cNvSpPr/>
          <p:nvPr/>
        </p:nvSpPr>
        <p:spPr>
          <a:xfrm>
            <a:off x="4424809" y="2926184"/>
            <a:ext cx="294531" cy="294531"/>
          </a:xfrm>
          <a:prstGeom prst="ellipse">
            <a:avLst/>
          </a:prstGeom>
          <a:solidFill>
            <a:srgbClr val="F3F3FF"/>
          </a:solidFill>
          <a:ln w="14288">
            <a:solidFill>
              <a:srgbClr val="DA33B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4479689" y="2957959"/>
            <a:ext cx="18477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 rtl="1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Aharoni" panose="02010803020104030203" pitchFamily="2" charset="-79"/>
                <a:ea typeface="Nunito SemiBold" pitchFamily="34" charset="-122"/>
                <a:cs typeface="Aharoni" panose="02010803020104030203" pitchFamily="2" charset="-79"/>
              </a:rPr>
              <a:t>3</a:t>
            </a:r>
            <a:endParaRPr lang="en-US" sz="145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08015" y="1860054"/>
            <a:ext cx="232804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04000"/>
              </a:lnSpc>
              <a:buNone/>
            </a:pPr>
            <a:r>
              <a:rPr lang="he-IL" altLang="en-US" sz="120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תקציב בסיסי</a:t>
            </a:r>
            <a:endParaRPr lang="he-IL" sz="1200" b="1" dirty="0"/>
          </a:p>
        </p:txBody>
      </p:sp>
      <p:sp>
        <p:nvSpPr>
          <p:cNvPr id="19" name="Text 17"/>
          <p:cNvSpPr/>
          <p:nvPr/>
        </p:nvSpPr>
        <p:spPr>
          <a:xfrm>
            <a:off x="3408015" y="2131070"/>
            <a:ext cx="2328044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rtl="1">
              <a:lnSpc>
                <a:spcPct val="133000"/>
              </a:lnSpc>
              <a:buNone/>
            </a:pPr>
            <a:r>
              <a:rPr lang="he-IL" alt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הפרדת תקציב פשוטה בין בית לעסק, כרטיס תקציב חודשי ומעקב אחר חיסכון והשקעות.</a:t>
            </a:r>
            <a:endParaRPr lang="he-IL" sz="1000" dirty="0"/>
          </a:p>
        </p:txBody>
      </p:sp>
      <p:sp>
        <p:nvSpPr>
          <p:cNvPr id="20" name="Shape 18"/>
          <p:cNvSpPr/>
          <p:nvPr/>
        </p:nvSpPr>
        <p:spPr>
          <a:xfrm>
            <a:off x="3188196" y="3073450"/>
            <a:ext cx="14288" cy="392683"/>
          </a:xfrm>
          <a:prstGeom prst="roundRect">
            <a:avLst>
              <a:gd name="adj" fmla="val 1374352"/>
            </a:avLst>
          </a:prstGeom>
          <a:solidFill>
            <a:srgbClr val="2D4DF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Shape 19"/>
          <p:cNvSpPr/>
          <p:nvPr/>
        </p:nvSpPr>
        <p:spPr>
          <a:xfrm>
            <a:off x="3048074" y="2926184"/>
            <a:ext cx="294531" cy="294531"/>
          </a:xfrm>
          <a:prstGeom prst="ellipse">
            <a:avLst/>
          </a:prstGeom>
          <a:solidFill>
            <a:srgbClr val="F3F3FF"/>
          </a:solidFill>
          <a:ln w="14288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Text 20"/>
          <p:cNvSpPr/>
          <p:nvPr/>
        </p:nvSpPr>
        <p:spPr>
          <a:xfrm>
            <a:off x="3102955" y="2957959"/>
            <a:ext cx="18477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 rtl="1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4</a:t>
            </a:r>
            <a:endParaRPr lang="en-US" sz="145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031281" y="3597027"/>
            <a:ext cx="232804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04000"/>
              </a:lnSpc>
              <a:buNone/>
            </a:pPr>
            <a:r>
              <a:rPr lang="he-IL" altLang="en-US" sz="120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בוט וואטסאפ</a:t>
            </a:r>
            <a:endParaRPr lang="he-IL" sz="1200" b="1" dirty="0"/>
          </a:p>
        </p:txBody>
      </p:sp>
      <p:sp>
        <p:nvSpPr>
          <p:cNvPr id="24" name="Text 22"/>
          <p:cNvSpPr/>
          <p:nvPr/>
        </p:nvSpPr>
        <p:spPr>
          <a:xfrm>
            <a:off x="2031281" y="3868043"/>
            <a:ext cx="2328044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rtl="1">
              <a:lnSpc>
                <a:spcPct val="133000"/>
              </a:lnSpc>
              <a:buNone/>
            </a:pPr>
            <a:r>
              <a:rPr lang="he-IL" alt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ניהול קולי באמצעות הודעות קוליות בעברית שמתורגמות אוטומטית למשימות, ותיבת AI Insights.</a:t>
            </a:r>
            <a:endParaRPr lang="he-IL" sz="1000" dirty="0"/>
          </a:p>
        </p:txBody>
      </p:sp>
      <p:sp>
        <p:nvSpPr>
          <p:cNvPr id="25" name="Shape 23"/>
          <p:cNvSpPr/>
          <p:nvPr/>
        </p:nvSpPr>
        <p:spPr>
          <a:xfrm>
            <a:off x="1811387" y="2680767"/>
            <a:ext cx="14288" cy="392683"/>
          </a:xfrm>
          <a:prstGeom prst="roundRect">
            <a:avLst>
              <a:gd name="adj" fmla="val 1374352"/>
            </a:avLst>
          </a:prstGeom>
          <a:solidFill>
            <a:srgbClr val="018CE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6" name="Shape 24"/>
          <p:cNvSpPr/>
          <p:nvPr/>
        </p:nvSpPr>
        <p:spPr>
          <a:xfrm>
            <a:off x="1671265" y="2926184"/>
            <a:ext cx="294531" cy="294531"/>
          </a:xfrm>
          <a:prstGeom prst="ellipse">
            <a:avLst/>
          </a:prstGeom>
          <a:solidFill>
            <a:srgbClr val="F3F3FF"/>
          </a:solidFill>
          <a:ln w="14288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Text 25"/>
          <p:cNvSpPr/>
          <p:nvPr/>
        </p:nvSpPr>
        <p:spPr>
          <a:xfrm>
            <a:off x="1726146" y="2957959"/>
            <a:ext cx="18477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 rtl="1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Aharoni" panose="02010803020104030203" pitchFamily="2" charset="-79"/>
                <a:ea typeface="Nunito SemiBold" pitchFamily="34" charset="-122"/>
                <a:cs typeface="Aharoni" panose="02010803020104030203" pitchFamily="2" charset="-79"/>
              </a:rPr>
              <a:t>5</a:t>
            </a:r>
            <a:endParaRPr lang="en-US" sz="145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54472" y="1860054"/>
            <a:ext cx="2328118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04000"/>
              </a:lnSpc>
              <a:buNone/>
            </a:pPr>
            <a:r>
              <a:rPr lang="he-IL" altLang="en-US" sz="120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רכב וביטוח</a:t>
            </a:r>
            <a:endParaRPr lang="he-IL" sz="1200" b="1" dirty="0"/>
          </a:p>
        </p:txBody>
      </p:sp>
      <p:sp>
        <p:nvSpPr>
          <p:cNvPr id="29" name="Text 27"/>
          <p:cNvSpPr/>
          <p:nvPr/>
        </p:nvSpPr>
        <p:spPr>
          <a:xfrm>
            <a:off x="654472" y="2131070"/>
            <a:ext cx="2328118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rtl="1">
              <a:lnSpc>
                <a:spcPct val="133000"/>
              </a:lnSpc>
              <a:buNone/>
            </a:pPr>
            <a:r>
              <a:rPr lang="he-IL" alt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מעקב התרעות של טסט וביטוח הרכב, בירוקרטיה וביטוחים, ומרכז מסמכים מאובטח.</a:t>
            </a:r>
            <a:endParaRPr lang="he-IL" sz="1000" dirty="0"/>
          </a:p>
        </p:txBody>
      </p:sp>
      <p:sp>
        <p:nvSpPr>
          <p:cNvPr id="31" name="מלבן 30">
            <a:extLst>
              <a:ext uri="{FF2B5EF4-FFF2-40B4-BE49-F238E27FC236}">
                <a16:creationId xmlns:a16="http://schemas.microsoft.com/office/drawing/2014/main" id="{4A5047E6-11CA-C4B9-83BF-A902402B7DCB}"/>
              </a:ext>
            </a:extLst>
          </p:cNvPr>
          <p:cNvSpPr/>
          <p:nvPr/>
        </p:nvSpPr>
        <p:spPr>
          <a:xfrm>
            <a:off x="7524206" y="4800599"/>
            <a:ext cx="1619794" cy="333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0959" y="131639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240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תוכנית הפיתוח: שלב ב' — הרחבה</a:t>
            </a:r>
            <a:endParaRPr lang="he-IL" sz="2400" b="1" dirty="0"/>
          </a:p>
        </p:txBody>
      </p:sp>
      <p:sp>
        <p:nvSpPr>
          <p:cNvPr id="3" name="Text 1"/>
          <p:cNvSpPr/>
          <p:nvPr/>
        </p:nvSpPr>
        <p:spPr>
          <a:xfrm>
            <a:off x="0" y="1052066"/>
            <a:ext cx="8554045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33000"/>
              </a:lnSpc>
              <a:buNone/>
            </a:pPr>
            <a:r>
              <a:rPr lang="he-IL" alt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לאחר השקת ה-MVP ובדיקות משתמש, שלב ב' יוסיף שכבות מתקדמות של אוטומציה ואינטגרציה.</a:t>
            </a:r>
            <a:endParaRPr lang="he-IL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7484" y="1635100"/>
            <a:ext cx="3982938" cy="137286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0801" y="1740396"/>
            <a:ext cx="196304" cy="19630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82666" y="2172965"/>
            <a:ext cx="369257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20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סנכרון יומן מלא</a:t>
            </a:r>
            <a:endParaRPr lang="he-IL" sz="1200" b="1" dirty="0"/>
          </a:p>
        </p:txBody>
      </p:sp>
      <p:sp>
        <p:nvSpPr>
          <p:cNvPr id="7" name="Text 3"/>
          <p:cNvSpPr/>
          <p:nvPr/>
        </p:nvSpPr>
        <p:spPr>
          <a:xfrm>
            <a:off x="4782666" y="2443981"/>
            <a:ext cx="369257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אינטגרציה דו-כיוונית מלאה ל-Google Calendar — פגישות קבועות לצד המשימות על ציר זמן יומי אחד.</a:t>
            </a:r>
            <a:endParaRPr lang="he-IL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7" y="1635100"/>
            <a:ext cx="3983013" cy="1372865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16969" y="1740396"/>
            <a:ext cx="196304" cy="19630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68759" y="2172965"/>
            <a:ext cx="3692649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20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אינטגרציה בנקאית</a:t>
            </a:r>
            <a:endParaRPr lang="he-IL" sz="1200" b="1" dirty="0"/>
          </a:p>
        </p:txBody>
      </p:sp>
      <p:sp>
        <p:nvSpPr>
          <p:cNvPr id="11" name="Text 5"/>
          <p:cNvSpPr/>
          <p:nvPr/>
        </p:nvSpPr>
        <p:spPr>
          <a:xfrm>
            <a:off x="668759" y="2443981"/>
            <a:ext cx="3692649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חיבור ישיר ומאובטח לחשבונות הבנק וכרטיסי האשראי למשיכת נתוני תנועות אוטומטית ללא הקלדה ידנית.</a:t>
            </a:r>
            <a:endParaRPr lang="he-IL" sz="10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7484" y="3138860"/>
            <a:ext cx="3982938" cy="1372865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0801" y="3244155"/>
            <a:ext cx="196304" cy="196304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782666" y="3676724"/>
            <a:ext cx="369257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20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סורק מסמכים חכם (OCR)</a:t>
            </a:r>
            <a:endParaRPr lang="he-IL" sz="1200" b="1" dirty="0"/>
          </a:p>
        </p:txBody>
      </p:sp>
      <p:sp>
        <p:nvSpPr>
          <p:cNvPr id="15" name="Text 7"/>
          <p:cNvSpPr/>
          <p:nvPr/>
        </p:nvSpPr>
        <p:spPr>
          <a:xfrm>
            <a:off x="4782666" y="3947740"/>
            <a:ext cx="369257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צילום טקסט, פוליסות, טפסים וקבלות — ה-AI מפענח, מחלץ תאריכי תפוגה וסכומים ומתייק אוטומטית.</a:t>
            </a:r>
            <a:endParaRPr lang="he-IL" sz="10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3138860"/>
            <a:ext cx="3983013" cy="1372865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16969" y="3244155"/>
            <a:ext cx="196304" cy="196304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668759" y="3676724"/>
            <a:ext cx="3692649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20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לוגיסטיקה ורשימת קניות</a:t>
            </a:r>
            <a:endParaRPr lang="he-IL" sz="1200" b="1" dirty="0"/>
          </a:p>
        </p:txBody>
      </p:sp>
      <p:sp>
        <p:nvSpPr>
          <p:cNvPr id="19" name="Text 9"/>
          <p:cNvSpPr/>
          <p:nvPr/>
        </p:nvSpPr>
        <p:spPr>
          <a:xfrm>
            <a:off x="668759" y="3947740"/>
            <a:ext cx="3692649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ניהול רשימת קניות לבית ומוצרי צריכה בסיסיים עם סנכרון ושיתוף מהיר בין בני המשפחה.</a:t>
            </a:r>
            <a:endParaRPr lang="he-IL" sz="1000" dirty="0"/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3697ADD0-A758-7F85-4248-521B1F544F4B}"/>
              </a:ext>
            </a:extLst>
          </p:cNvPr>
          <p:cNvSpPr/>
          <p:nvPr/>
        </p:nvSpPr>
        <p:spPr>
          <a:xfrm>
            <a:off x="7524206" y="4800599"/>
            <a:ext cx="1619794" cy="333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368424"/>
            <a:ext cx="466784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215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צעדי הפיתוח המומלצים</a:t>
            </a:r>
            <a:endParaRPr lang="he-IL" sz="2150" b="1" dirty="0"/>
          </a:p>
        </p:txBody>
      </p:sp>
      <p:sp>
        <p:nvSpPr>
          <p:cNvPr id="4" name="Text 1"/>
          <p:cNvSpPr/>
          <p:nvPr/>
        </p:nvSpPr>
        <p:spPr>
          <a:xfrm>
            <a:off x="523577" y="878532"/>
            <a:ext cx="4667845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27000"/>
              </a:lnSpc>
              <a:buNone/>
            </a:pPr>
            <a:r>
              <a:rPr lang="he-IL" alt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המערכת הוגדרה באופן המאפשר פיתוח מדורג ומהיר. להלן ארבעת הצעדים המומלצים להתחלת הפרויקט:</a:t>
            </a:r>
            <a:endParaRPr lang="he-IL" sz="900" dirty="0"/>
          </a:p>
        </p:txBody>
      </p:sp>
      <p:sp>
        <p:nvSpPr>
          <p:cNvPr id="5" name="Shape 2"/>
          <p:cNvSpPr/>
          <p:nvPr/>
        </p:nvSpPr>
        <p:spPr>
          <a:xfrm>
            <a:off x="4924499" y="1361108"/>
            <a:ext cx="266923" cy="266923"/>
          </a:xfrm>
          <a:prstGeom prst="ellipse">
            <a:avLst/>
          </a:prstGeom>
          <a:solidFill>
            <a:srgbClr val="F3F3FF"/>
          </a:solidFill>
          <a:ln w="14288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he-IL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Text 3"/>
          <p:cNvSpPr/>
          <p:nvPr/>
        </p:nvSpPr>
        <p:spPr>
          <a:xfrm>
            <a:off x="4974208" y="1389869"/>
            <a:ext cx="167432" cy="209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 rtl="1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2E"/>
                </a:solidFill>
                <a:latin typeface="Aharoni" panose="02010803020104030203" pitchFamily="2" charset="-79"/>
              </a:rPr>
              <a:t>1</a:t>
            </a:r>
            <a:endParaRPr lang="en-US" sz="2000" dirty="0">
              <a:latin typeface="Aharoni" panose="02010803020104030203" pitchFamily="2" charset="-79"/>
            </a:endParaRPr>
          </a:p>
        </p:txBody>
      </p:sp>
      <p:sp>
        <p:nvSpPr>
          <p:cNvPr id="7" name="Text 4"/>
          <p:cNvSpPr/>
          <p:nvPr/>
        </p:nvSpPr>
        <p:spPr>
          <a:xfrm>
            <a:off x="523577" y="1401887"/>
            <a:ext cx="4293468" cy="17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05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בחירת שפת פיתוח וחבילת UI</a:t>
            </a:r>
            <a:endParaRPr lang="he-IL" sz="1050" b="1" dirty="0"/>
          </a:p>
        </p:txBody>
      </p:sp>
      <p:sp>
        <p:nvSpPr>
          <p:cNvPr id="8" name="Text 5"/>
          <p:cNvSpPr/>
          <p:nvPr/>
        </p:nvSpPr>
        <p:spPr>
          <a:xfrm>
            <a:off x="523577" y="1640830"/>
            <a:ext cx="4293468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27000"/>
              </a:lnSpc>
              <a:buNone/>
            </a:pPr>
            <a:r>
              <a:rPr lang="he-IL" alt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המלצה: </a:t>
            </a:r>
            <a:r>
              <a:rPr lang="he-IL" altLang="en-US" sz="9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</a:rPr>
              <a:t>React Native / Flutter</a:t>
            </a:r>
            <a:r>
              <a:rPr lang="he-IL" alt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 לשמירה על חוויית פרימיום אחידה.</a:t>
            </a:r>
            <a:endParaRPr lang="he-IL" sz="900" dirty="0"/>
          </a:p>
        </p:txBody>
      </p:sp>
      <p:sp>
        <p:nvSpPr>
          <p:cNvPr id="9" name="Shape 6"/>
          <p:cNvSpPr/>
          <p:nvPr/>
        </p:nvSpPr>
        <p:spPr>
          <a:xfrm>
            <a:off x="4924499" y="2036638"/>
            <a:ext cx="266923" cy="266923"/>
          </a:xfrm>
          <a:prstGeom prst="ellipse">
            <a:avLst/>
          </a:prstGeom>
          <a:solidFill>
            <a:srgbClr val="F3F3FF"/>
          </a:solidFill>
          <a:ln w="14288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Text 7"/>
          <p:cNvSpPr/>
          <p:nvPr/>
        </p:nvSpPr>
        <p:spPr>
          <a:xfrm>
            <a:off x="4974208" y="2065400"/>
            <a:ext cx="167432" cy="209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 rtl="1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2E"/>
                </a:solidFill>
                <a:latin typeface="Aharoni" panose="02010803020104030203" pitchFamily="2" charset="-79"/>
                <a:ea typeface="Nunito SemiBold" pitchFamily="34" charset="-122"/>
                <a:cs typeface="Aharoni" panose="02010803020104030203" pitchFamily="2" charset="-79"/>
              </a:rPr>
              <a:t>2</a:t>
            </a:r>
            <a:endParaRPr lang="en-US" sz="2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23577" y="2077417"/>
            <a:ext cx="4293468" cy="17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05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הקמת מסדי נתונים נפרדים ומאובטחים</a:t>
            </a:r>
            <a:endParaRPr lang="he-IL" sz="1050" b="1" dirty="0"/>
          </a:p>
        </p:txBody>
      </p:sp>
      <p:sp>
        <p:nvSpPr>
          <p:cNvPr id="12" name="Text 9"/>
          <p:cNvSpPr/>
          <p:nvPr/>
        </p:nvSpPr>
        <p:spPr>
          <a:xfrm>
            <a:off x="523577" y="2316361"/>
            <a:ext cx="4293468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27000"/>
              </a:lnSpc>
              <a:buNone/>
            </a:pPr>
            <a:r>
              <a:rPr lang="he-IL" alt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הקמת מסדי נתונים נפרדים לתחום הפיננסי, תוך הקפדה על </a:t>
            </a:r>
            <a:r>
              <a:rPr lang="he-IL" altLang="en-US" sz="9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</a:rPr>
              <a:t>הפרדת נתוני הבית והעסק</a:t>
            </a:r>
            <a:r>
              <a:rPr lang="he-IL" alt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.</a:t>
            </a:r>
            <a:endParaRPr lang="he-IL" sz="900" dirty="0"/>
          </a:p>
        </p:txBody>
      </p:sp>
      <p:sp>
        <p:nvSpPr>
          <p:cNvPr id="13" name="Shape 10"/>
          <p:cNvSpPr/>
          <p:nvPr/>
        </p:nvSpPr>
        <p:spPr>
          <a:xfrm>
            <a:off x="4924499" y="2712169"/>
            <a:ext cx="266923" cy="266923"/>
          </a:xfrm>
          <a:prstGeom prst="ellipse">
            <a:avLst/>
          </a:prstGeom>
          <a:solidFill>
            <a:srgbClr val="F3F3FF"/>
          </a:solidFill>
          <a:ln w="14288">
            <a:solidFill>
              <a:srgbClr val="DA33B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 11"/>
          <p:cNvSpPr/>
          <p:nvPr/>
        </p:nvSpPr>
        <p:spPr>
          <a:xfrm>
            <a:off x="4974208" y="2740930"/>
            <a:ext cx="167432" cy="209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 rtl="1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2E"/>
                </a:solidFill>
                <a:latin typeface="Aharoni" panose="02010803020104030203" pitchFamily="2" charset="-79"/>
                <a:ea typeface="Nunito SemiBold" pitchFamily="34" charset="-122"/>
                <a:cs typeface="Aharoni" panose="02010803020104030203" pitchFamily="2" charset="-79"/>
              </a:rPr>
              <a:t>3</a:t>
            </a:r>
            <a:endParaRPr lang="en-US" sz="2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23577" y="2752948"/>
            <a:ext cx="4293468" cy="17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05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אינטגרציה עם מנוע AI</a:t>
            </a:r>
            <a:endParaRPr lang="he-IL" sz="1050" b="1" dirty="0"/>
          </a:p>
        </p:txBody>
      </p:sp>
      <p:sp>
        <p:nvSpPr>
          <p:cNvPr id="16" name="Text 13"/>
          <p:cNvSpPr/>
          <p:nvPr/>
        </p:nvSpPr>
        <p:spPr>
          <a:xfrm>
            <a:off x="523577" y="2991892"/>
            <a:ext cx="4293468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27000"/>
              </a:lnSpc>
              <a:buNone/>
            </a:pPr>
            <a:r>
              <a:rPr lang="he-IL" alt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אינטגרציה עם API של </a:t>
            </a:r>
            <a:r>
              <a:rPr lang="he-IL" altLang="en-US" sz="9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</a:rPr>
              <a:t>OpenAI / Anthropic</a:t>
            </a:r>
            <a:r>
              <a:rPr lang="he-IL" alt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 לטובת מנוע עיבוד השפה הטבעית (NLP) בבוט הוואטסאפ.</a:t>
            </a:r>
            <a:endParaRPr lang="he-IL" sz="900" dirty="0"/>
          </a:p>
        </p:txBody>
      </p:sp>
      <p:sp>
        <p:nvSpPr>
          <p:cNvPr id="17" name="Shape 14"/>
          <p:cNvSpPr/>
          <p:nvPr/>
        </p:nvSpPr>
        <p:spPr>
          <a:xfrm>
            <a:off x="4924499" y="3568526"/>
            <a:ext cx="266923" cy="266923"/>
          </a:xfrm>
          <a:prstGeom prst="ellipse">
            <a:avLst/>
          </a:prstGeom>
          <a:solidFill>
            <a:srgbClr val="F3F3FF"/>
          </a:solidFill>
          <a:ln w="14288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Text 15"/>
          <p:cNvSpPr/>
          <p:nvPr/>
        </p:nvSpPr>
        <p:spPr>
          <a:xfrm>
            <a:off x="4974208" y="3597287"/>
            <a:ext cx="167432" cy="209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 rtl="1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2E"/>
                </a:solidFill>
                <a:latin typeface="Aharoni" panose="02010803020104030203" pitchFamily="2" charset="-79"/>
                <a:ea typeface="Nunito SemiBold" pitchFamily="34" charset="-122"/>
                <a:cs typeface="Aharoni" panose="02010803020104030203" pitchFamily="2" charset="-79"/>
              </a:rPr>
              <a:t>4</a:t>
            </a:r>
            <a:endParaRPr lang="en-US" sz="2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23577" y="3609305"/>
            <a:ext cx="4293468" cy="17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05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</a:rPr>
              <a:t>השקת גרסת בטא</a:t>
            </a:r>
            <a:endParaRPr lang="he-IL" sz="1050" b="1" dirty="0"/>
          </a:p>
        </p:txBody>
      </p:sp>
      <p:sp>
        <p:nvSpPr>
          <p:cNvPr id="20" name="Text 17"/>
          <p:cNvSpPr/>
          <p:nvPr/>
        </p:nvSpPr>
        <p:spPr>
          <a:xfrm>
            <a:off x="523577" y="3848249"/>
            <a:ext cx="4293468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27000"/>
              </a:lnSpc>
              <a:buNone/>
            </a:pPr>
            <a:r>
              <a:rPr lang="he-IL" alt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השקת גרסת בטא לבדיקות משתמש עבור דניאל לטובת </a:t>
            </a:r>
            <a:r>
              <a:rPr lang="he-IL" altLang="en-US" sz="9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</a:rPr>
              <a:t>טיוב ושיפור הממשק</a:t>
            </a:r>
            <a:r>
              <a:rPr lang="he-IL" alt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</a:rPr>
              <a:t>.</a:t>
            </a:r>
            <a:endParaRPr lang="he-IL" sz="900" dirty="0"/>
          </a:p>
        </p:txBody>
      </p:sp>
      <p:sp>
        <p:nvSpPr>
          <p:cNvPr id="21" name="Shape 18"/>
          <p:cNvSpPr/>
          <p:nvPr/>
        </p:nvSpPr>
        <p:spPr>
          <a:xfrm>
            <a:off x="523577" y="4149998"/>
            <a:ext cx="4667845" cy="625078"/>
          </a:xfrm>
          <a:prstGeom prst="roundRect">
            <a:avLst>
              <a:gd name="adj" fmla="val 28470"/>
            </a:avLst>
          </a:prstGeom>
          <a:solidFill>
            <a:srgbClr val="CFD6F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3" name="Text 19"/>
          <p:cNvSpPr/>
          <p:nvPr/>
        </p:nvSpPr>
        <p:spPr>
          <a:xfrm>
            <a:off x="909042" y="4172806"/>
            <a:ext cx="4163764" cy="601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rtl="1">
              <a:lnSpc>
                <a:spcPct val="127000"/>
              </a:lnSpc>
            </a:pPr>
            <a:r>
              <a:rPr lang="he-IL" altLang="en-US" sz="9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</a:rPr>
              <a:t>DAOS</a:t>
            </a:r>
            <a:r>
              <a:rPr lang="he-IL" altLang="en-US" sz="9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</a:rPr>
              <a:t>  </a:t>
            </a:r>
          </a:p>
          <a:p>
            <a:pPr algn="ctr" rtl="1">
              <a:lnSpc>
                <a:spcPct val="127000"/>
              </a:lnSpc>
            </a:pPr>
            <a:r>
              <a:rPr lang="he-IL" altLang="en-US" sz="9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</a:rPr>
              <a:t>נבנתה כדי להעניק לדניאל את הכלים לנהל את חייו ביעילות, בשקט ובשליטה מלאה מהיום הראשון ועד לשלב הבא.</a:t>
            </a:r>
            <a:endParaRPr lang="he-IL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307C3-E640-3E25-01B3-51B2835E8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4932FAD-3499-8A1D-92A2-371D77E1F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902279"/>
            <a:ext cx="6858000" cy="1338942"/>
          </a:xfrm>
        </p:spPr>
        <p:txBody>
          <a:bodyPr>
            <a:noAutofit/>
          </a:bodyPr>
          <a:lstStyle/>
          <a:p>
            <a:r>
              <a:rPr lang="he-IL" sz="6000" dirty="0">
                <a:cs typeface="+mn-cs"/>
              </a:rPr>
              <a:t>תצוגה ויזואלית</a:t>
            </a:r>
            <a:br>
              <a:rPr lang="he-IL" sz="6000" dirty="0">
                <a:cs typeface="+mn-cs"/>
              </a:rPr>
            </a:br>
            <a:r>
              <a:rPr lang="he-IL" sz="6000" dirty="0">
                <a:cs typeface="+mn-cs"/>
              </a:rPr>
              <a:t>של האפליקציה</a:t>
            </a:r>
          </a:p>
        </p:txBody>
      </p:sp>
    </p:spTree>
    <p:extLst>
      <p:ext uri="{BB962C8B-B14F-4D97-AF65-F5344CB8AC3E}">
        <p14:creationId xmlns:p14="http://schemas.microsoft.com/office/powerpoint/2010/main" val="4230968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AC7400-A33C-D95B-CABE-1D06B2E17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00075" y="1118508"/>
            <a:ext cx="2500312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1"/>
            <a:endParaRPr lang="en-US" sz="135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DE1B360B-1E42-A1A8-3844-EEDE12A225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1525" y="1475450"/>
            <a:ext cx="1971675" cy="1910443"/>
          </a:xfrm>
          <a:noFill/>
        </p:spPr>
        <p:txBody>
          <a:bodyPr anchor="ctr">
            <a:normAutofit/>
          </a:bodyPr>
          <a:lstStyle/>
          <a:p>
            <a:r>
              <a:rPr lang="he-IL" sz="2700" dirty="0">
                <a:solidFill>
                  <a:srgbClr val="FFFFFF"/>
                </a:solidFill>
              </a:rPr>
              <a:t>מסך פתיחה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71F75804-A144-B30B-F709-EE1F82CBF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830" y="-139293"/>
            <a:ext cx="3021840" cy="542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606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41C176-DEC6-6B8F-6D77-5C43572AF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00075" y="1118508"/>
            <a:ext cx="2500312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1"/>
            <a:endParaRPr lang="en-US" sz="135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262DC6E4-D5E6-46C3-D781-D88CE69D2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1525" y="1475450"/>
            <a:ext cx="1971675" cy="1910443"/>
          </a:xfrm>
          <a:noFill/>
        </p:spPr>
        <p:txBody>
          <a:bodyPr anchor="ctr">
            <a:normAutofit/>
          </a:bodyPr>
          <a:lstStyle/>
          <a:p>
            <a:r>
              <a:rPr lang="he-IL" sz="2700" dirty="0">
                <a:solidFill>
                  <a:srgbClr val="FFFFFF"/>
                </a:solidFill>
              </a:rPr>
              <a:t>פרופיל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35B9170F-9554-58C6-7BA5-B30AD3E47A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536" y="482600"/>
            <a:ext cx="2328428" cy="417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843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00075" y="1118508"/>
            <a:ext cx="2500312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1"/>
            <a:endParaRPr lang="en-US" sz="135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2719075C-0B4D-BEFF-718E-6F0064E836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1525" y="1475450"/>
            <a:ext cx="1971675" cy="1910443"/>
          </a:xfrm>
          <a:noFill/>
        </p:spPr>
        <p:txBody>
          <a:bodyPr anchor="ctr">
            <a:normAutofit/>
          </a:bodyPr>
          <a:lstStyle/>
          <a:p>
            <a:r>
              <a:rPr lang="he-IL" sz="2700" dirty="0">
                <a:solidFill>
                  <a:srgbClr val="FFFFFF"/>
                </a:solidFill>
              </a:rPr>
              <a:t>מסך יומן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611FA9BA-C3C7-17CB-095B-1524DFF54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536" y="482600"/>
            <a:ext cx="2328428" cy="417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526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8A42C2-9382-B3D9-9EF6-1BBE4D331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00075" y="1118508"/>
            <a:ext cx="2500312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1"/>
            <a:endParaRPr lang="en-US" sz="135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02F8FB01-092F-0109-7F0E-26A935C4A3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1525" y="1475450"/>
            <a:ext cx="1971675" cy="1910443"/>
          </a:xfrm>
          <a:noFill/>
        </p:spPr>
        <p:txBody>
          <a:bodyPr anchor="ctr">
            <a:normAutofit/>
          </a:bodyPr>
          <a:lstStyle/>
          <a:p>
            <a:r>
              <a:rPr lang="he-IL" sz="2700" dirty="0">
                <a:solidFill>
                  <a:srgbClr val="FFFFFF"/>
                </a:solidFill>
              </a:rPr>
              <a:t>מסך כספי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251A4B0F-5AA9-D0B4-0F2F-88B740F94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536" y="482600"/>
            <a:ext cx="2328428" cy="417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710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F6555A-BE5E-F61E-374E-857C99E7A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00075" y="1118508"/>
            <a:ext cx="2500312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1"/>
            <a:endParaRPr lang="en-US" sz="135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42BEE556-53C4-3CF8-6D4C-63C1F38031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1525" y="1475450"/>
            <a:ext cx="1971675" cy="1910443"/>
          </a:xfrm>
          <a:noFill/>
        </p:spPr>
        <p:txBody>
          <a:bodyPr anchor="ctr">
            <a:normAutofit/>
          </a:bodyPr>
          <a:lstStyle/>
          <a:p>
            <a:r>
              <a:rPr lang="he-IL" sz="2700" dirty="0">
                <a:solidFill>
                  <a:srgbClr val="FFFFFF"/>
                </a:solidFill>
              </a:rPr>
              <a:t>מידע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EF7DE787-4B6F-8458-790D-278DEC573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536" y="482600"/>
            <a:ext cx="2328428" cy="417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20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978D11-8FD5-BE8E-60A6-577F058BB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00075" y="1118508"/>
            <a:ext cx="2500312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1"/>
            <a:endParaRPr lang="en-US" sz="135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A18ACBE4-641A-A632-4095-39ACC9CA8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1525" y="1475450"/>
            <a:ext cx="1971675" cy="1910443"/>
          </a:xfrm>
          <a:noFill/>
        </p:spPr>
        <p:txBody>
          <a:bodyPr anchor="ctr">
            <a:normAutofit/>
          </a:bodyPr>
          <a:lstStyle/>
          <a:p>
            <a:r>
              <a:rPr lang="he-IL" sz="2700" dirty="0">
                <a:solidFill>
                  <a:srgbClr val="FFFFFF"/>
                </a:solidFill>
              </a:rPr>
              <a:t>הגדרות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0AEC8E52-D0D8-DAEA-F0F7-7281C3C9D5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536" y="482600"/>
            <a:ext cx="2328428" cy="417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899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1508</Words>
  <Application>Microsoft Office PowerPoint</Application>
  <PresentationFormat>‫הצגה על המסך (16:9)</PresentationFormat>
  <Paragraphs>127</Paragraphs>
  <Slides>18</Slides>
  <Notes>11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9</vt:i4>
      </vt:variant>
      <vt:variant>
        <vt:lpstr>ערכת נושא</vt:lpstr>
      </vt:variant>
      <vt:variant>
        <vt:i4>2</vt:i4>
      </vt:variant>
      <vt:variant>
        <vt:lpstr>כותרות שקופיות</vt:lpstr>
      </vt:variant>
      <vt:variant>
        <vt:i4>18</vt:i4>
      </vt:variant>
    </vt:vector>
  </HeadingPairs>
  <TitlesOfParts>
    <vt:vector size="29" baseType="lpstr">
      <vt:lpstr>Arial</vt:lpstr>
      <vt:lpstr>Aptos Display</vt:lpstr>
      <vt:lpstr>PT Sans Bold</vt:lpstr>
      <vt:lpstr>Twemoji Mozilla</vt:lpstr>
      <vt:lpstr>Aptos</vt:lpstr>
      <vt:lpstr>Aharoni</vt:lpstr>
      <vt:lpstr>Nunito SemiBold</vt:lpstr>
      <vt:lpstr>David</vt:lpstr>
      <vt:lpstr>PT Sans</vt:lpstr>
      <vt:lpstr>Office Theme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תצוגה ויזואלית של האפליקציה</vt:lpstr>
      <vt:lpstr>מסך פתיחה</vt:lpstr>
      <vt:lpstr>פרופיל</vt:lpstr>
      <vt:lpstr>מסך יומן</vt:lpstr>
      <vt:lpstr>מסך כספי</vt:lpstr>
      <vt:lpstr>מידע</vt:lpstr>
      <vt:lpstr>הגדרות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תהל פרטוש</cp:lastModifiedBy>
  <cp:revision>8</cp:revision>
  <dcterms:created xsi:type="dcterms:W3CDTF">2026-07-14T10:46:11Z</dcterms:created>
  <dcterms:modified xsi:type="dcterms:W3CDTF">2026-07-14T12:05:49Z</dcterms:modified>
</cp:coreProperties>
</file>